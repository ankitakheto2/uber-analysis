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7" r:id="rId3"/>
    <p:sldId id="258" r:id="rId4"/>
    <p:sldId id="259" r:id="rId5"/>
    <p:sldId id="260" r:id="rId6"/>
    <p:sldId id="261" r:id="rId7"/>
    <p:sldId id="262" r:id="rId8"/>
    <p:sldId id="269" r:id="rId9"/>
    <p:sldId id="270" r:id="rId10"/>
    <p:sldId id="271"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BAD491B-E8EB-42AA-88C0-E077BEA8817E}" type="datetimeFigureOut">
              <a:rPr lang="en-US" smtClean="0"/>
              <a:t>08-Feb-26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3154483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AD491B-E8EB-42AA-88C0-E077BEA8817E}" type="datetimeFigureOut">
              <a:rPr lang="en-US" smtClean="0"/>
              <a:t>08-Feb-26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31733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AD491B-E8EB-42AA-88C0-E077BEA8817E}" type="datetimeFigureOut">
              <a:rPr lang="en-US" smtClean="0"/>
              <a:t>08-Feb-26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3873791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AD491B-E8EB-42AA-88C0-E077BEA8817E}" type="datetimeFigureOut">
              <a:rPr lang="en-US" smtClean="0"/>
              <a:t>08-Feb-26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3340158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AD491B-E8EB-42AA-88C0-E077BEA8817E}" type="datetimeFigureOut">
              <a:rPr lang="en-US" smtClean="0"/>
              <a:t>08-Feb-26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2336858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BAD491B-E8EB-42AA-88C0-E077BEA8817E}" type="datetimeFigureOut">
              <a:rPr lang="en-US" smtClean="0"/>
              <a:t>08-Feb-26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3211657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AD491B-E8EB-42AA-88C0-E077BEA8817E}" type="datetimeFigureOut">
              <a:rPr lang="en-US" smtClean="0"/>
              <a:t>08-Feb-26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3570859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AD491B-E8EB-42AA-88C0-E077BEA8817E}" type="datetimeFigureOut">
              <a:rPr lang="en-US" smtClean="0"/>
              <a:t>08-Feb-26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499782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AD491B-E8EB-42AA-88C0-E077BEA8817E}" type="datetimeFigureOut">
              <a:rPr lang="en-US" smtClean="0"/>
              <a:t>08-Feb-26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730764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AD491B-E8EB-42AA-88C0-E077BEA8817E}" type="datetimeFigureOut">
              <a:rPr lang="en-US" smtClean="0"/>
              <a:t>08-Feb-26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3139812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AD491B-E8EB-42AA-88C0-E077BEA8817E}" type="datetimeFigureOut">
              <a:rPr lang="en-US" smtClean="0"/>
              <a:t>08-Feb-26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F6249-C426-4346-98FB-89CE7C068FCE}"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54650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AD491B-E8EB-42AA-88C0-E077BEA8817E}" type="datetimeFigureOut">
              <a:rPr lang="en-US" smtClean="0"/>
              <a:t>08-Feb-26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22586030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AD491B-E8EB-42AA-88C0-E077BEA8817E}" type="datetimeFigureOut">
              <a:rPr lang="en-US" smtClean="0"/>
              <a:t>08-Feb-26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F6249-C426-4346-98FB-89CE7C068FCE}"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1425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AD491B-E8EB-42AA-88C0-E077BEA8817E}" type="datetimeFigureOut">
              <a:rPr lang="en-US" smtClean="0"/>
              <a:t>08-Feb-26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3002004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AD491B-E8EB-42AA-88C0-E077BEA8817E}" type="datetimeFigureOut">
              <a:rPr lang="en-US" smtClean="0"/>
              <a:t>08-Feb-26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3009188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AD491B-E8EB-42AA-88C0-E077BEA8817E}" type="datetimeFigureOut">
              <a:rPr lang="en-US" smtClean="0"/>
              <a:t>08-Feb-26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F6249-C426-4346-98FB-89CE7C068FCE}" type="slidenum">
              <a:rPr lang="en-US" smtClean="0"/>
              <a:t>‹#›</a:t>
            </a:fld>
            <a:endParaRPr lang="en-US"/>
          </a:p>
        </p:txBody>
      </p:sp>
    </p:spTree>
    <p:extLst>
      <p:ext uri="{BB962C8B-B14F-4D97-AF65-F5344CB8AC3E}">
        <p14:creationId xmlns:p14="http://schemas.microsoft.com/office/powerpoint/2010/main" val="1966949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BAD491B-E8EB-42AA-88C0-E077BEA8817E}" type="datetimeFigureOut">
              <a:rPr lang="en-US" smtClean="0"/>
              <a:t>08-Feb-26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CCF6249-C426-4346-98FB-89CE7C068FCE}" type="slidenum">
              <a:rPr lang="en-US" smtClean="0"/>
              <a:t>‹#›</a:t>
            </a:fld>
            <a:endParaRPr lang="en-US"/>
          </a:p>
        </p:txBody>
      </p:sp>
    </p:spTree>
    <p:extLst>
      <p:ext uri="{BB962C8B-B14F-4D97-AF65-F5344CB8AC3E}">
        <p14:creationId xmlns:p14="http://schemas.microsoft.com/office/powerpoint/2010/main" val="77416027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63EDE49-4120-D288-CD7B-14AD1666DBF8}"/>
              </a:ext>
            </a:extLst>
          </p:cNvPr>
          <p:cNvSpPr/>
          <p:nvPr/>
        </p:nvSpPr>
        <p:spPr>
          <a:xfrm>
            <a:off x="1081548" y="344129"/>
            <a:ext cx="5997678" cy="176980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05D52FD-F546-449C-A88F-6FB1BB49A317}"/>
              </a:ext>
            </a:extLst>
          </p:cNvPr>
          <p:cNvSpPr txBox="1"/>
          <p:nvPr/>
        </p:nvSpPr>
        <p:spPr>
          <a:xfrm>
            <a:off x="786582" y="1079345"/>
            <a:ext cx="4817806" cy="1200329"/>
          </a:xfrm>
          <a:prstGeom prst="rect">
            <a:avLst/>
          </a:prstGeom>
          <a:noFill/>
        </p:spPr>
        <p:txBody>
          <a:bodyPr wrap="square" rtlCol="0">
            <a:spAutoFit/>
          </a:bodyPr>
          <a:lstStyle/>
          <a:p>
            <a:r>
              <a:rPr lang="en-US" sz="3600" b="1" dirty="0">
                <a:solidFill>
                  <a:schemeClr val="tx1">
                    <a:lumMod val="95000"/>
                    <a:lumOff val="5000"/>
                  </a:schemeClr>
                </a:solidFill>
                <a:latin typeface="Amasis MT Pro Black" panose="02040A04050005020304" pitchFamily="18" charset="0"/>
              </a:rPr>
              <a:t>Uber Data Analysis</a:t>
            </a:r>
          </a:p>
          <a:p>
            <a:r>
              <a:rPr lang="en-US" sz="3600" b="1" dirty="0">
                <a:solidFill>
                  <a:schemeClr val="tx1">
                    <a:lumMod val="95000"/>
                    <a:lumOff val="5000"/>
                  </a:schemeClr>
                </a:solidFill>
                <a:latin typeface="Amasis MT Pro Black" panose="02040A04050005020304" pitchFamily="18" charset="0"/>
              </a:rPr>
              <a:t>Dashboard</a:t>
            </a:r>
          </a:p>
        </p:txBody>
      </p:sp>
      <p:pic>
        <p:nvPicPr>
          <p:cNvPr id="7" name="Picture 6">
            <a:extLst>
              <a:ext uri="{FF2B5EF4-FFF2-40B4-BE49-F238E27FC236}">
                <a16:creationId xmlns:a16="http://schemas.microsoft.com/office/drawing/2014/main" id="{8FED69A6-EC12-2D62-CD4E-D35352565B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239" y="717755"/>
            <a:ext cx="5093451" cy="5087939"/>
          </a:xfrm>
          <a:prstGeom prst="rect">
            <a:avLst/>
          </a:prstGeom>
        </p:spPr>
      </p:pic>
      <p:sp>
        <p:nvSpPr>
          <p:cNvPr id="8" name="TextBox 7">
            <a:extLst>
              <a:ext uri="{FF2B5EF4-FFF2-40B4-BE49-F238E27FC236}">
                <a16:creationId xmlns:a16="http://schemas.microsoft.com/office/drawing/2014/main" id="{027435BB-AAF7-DA88-24A5-D74E87DF816F}"/>
              </a:ext>
            </a:extLst>
          </p:cNvPr>
          <p:cNvSpPr txBox="1"/>
          <p:nvPr/>
        </p:nvSpPr>
        <p:spPr>
          <a:xfrm>
            <a:off x="639098" y="3239856"/>
            <a:ext cx="2674374" cy="523220"/>
          </a:xfrm>
          <a:prstGeom prst="rect">
            <a:avLst/>
          </a:prstGeom>
          <a:noFill/>
        </p:spPr>
        <p:txBody>
          <a:bodyPr wrap="square" rtlCol="0">
            <a:spAutoFit/>
          </a:bodyPr>
          <a:lstStyle/>
          <a:p>
            <a:r>
              <a:rPr lang="en-US" sz="2800" dirty="0">
                <a:ln w="0"/>
                <a:solidFill>
                  <a:schemeClr val="accent1">
                    <a:lumMod val="75000"/>
                  </a:schemeClr>
                </a:solidFill>
                <a:effectLst>
                  <a:reflection blurRad="6350" stA="53000" endA="300" endPos="35500" dir="5400000" sy="-90000" algn="bl" rotWithShape="0"/>
                </a:effectLst>
                <a:latin typeface="Amasis MT Pro Black" panose="02040A04050005020304" pitchFamily="18" charset="0"/>
              </a:rPr>
              <a:t>Total Rows</a:t>
            </a:r>
          </a:p>
        </p:txBody>
      </p:sp>
      <p:sp>
        <p:nvSpPr>
          <p:cNvPr id="9" name="TextBox 8">
            <a:extLst>
              <a:ext uri="{FF2B5EF4-FFF2-40B4-BE49-F238E27FC236}">
                <a16:creationId xmlns:a16="http://schemas.microsoft.com/office/drawing/2014/main" id="{5333185A-D8BF-EDF3-9E09-AC25F2A0840F}"/>
              </a:ext>
            </a:extLst>
          </p:cNvPr>
          <p:cNvSpPr txBox="1"/>
          <p:nvPr/>
        </p:nvSpPr>
        <p:spPr>
          <a:xfrm>
            <a:off x="302344" y="4082345"/>
            <a:ext cx="3347882" cy="523220"/>
          </a:xfrm>
          <a:prstGeom prst="rect">
            <a:avLst/>
          </a:prstGeom>
          <a:noFill/>
        </p:spPr>
        <p:txBody>
          <a:bodyPr wrap="square" rtlCol="0">
            <a:spAutoFit/>
          </a:bodyPr>
          <a:lstStyle/>
          <a:p>
            <a:r>
              <a:rPr lang="en-US" sz="2800" dirty="0">
                <a:ln w="0"/>
                <a:solidFill>
                  <a:schemeClr val="accent1">
                    <a:lumMod val="75000"/>
                  </a:schemeClr>
                </a:solidFill>
                <a:effectLst>
                  <a:reflection blurRad="6350" stA="53000" endA="300" endPos="35500" dir="5400000" sy="-90000" algn="bl" rotWithShape="0"/>
                </a:effectLst>
                <a:latin typeface="Amasis MT Pro Black" panose="02040A04050005020304" pitchFamily="18" charset="0"/>
              </a:rPr>
              <a:t>Total Columns</a:t>
            </a:r>
          </a:p>
        </p:txBody>
      </p:sp>
      <p:sp>
        <p:nvSpPr>
          <p:cNvPr id="10" name="TextBox 9">
            <a:extLst>
              <a:ext uri="{FF2B5EF4-FFF2-40B4-BE49-F238E27FC236}">
                <a16:creationId xmlns:a16="http://schemas.microsoft.com/office/drawing/2014/main" id="{0DC61EA9-B2E1-C01A-B58F-3AC1CD1C47AF}"/>
              </a:ext>
            </a:extLst>
          </p:cNvPr>
          <p:cNvSpPr txBox="1"/>
          <p:nvPr/>
        </p:nvSpPr>
        <p:spPr>
          <a:xfrm>
            <a:off x="521111" y="4913099"/>
            <a:ext cx="2674374" cy="523220"/>
          </a:xfrm>
          <a:prstGeom prst="rect">
            <a:avLst/>
          </a:prstGeom>
          <a:noFill/>
        </p:spPr>
        <p:txBody>
          <a:bodyPr wrap="square" rtlCol="0">
            <a:spAutoFit/>
          </a:bodyPr>
          <a:lstStyle/>
          <a:p>
            <a:r>
              <a:rPr lang="en-US" sz="2800" dirty="0">
                <a:ln w="0"/>
                <a:solidFill>
                  <a:schemeClr val="accent1">
                    <a:lumMod val="75000"/>
                  </a:schemeClr>
                </a:solidFill>
                <a:effectLst>
                  <a:reflection blurRad="6350" stA="53000" endA="300" endPos="35500" dir="5400000" sy="-90000" algn="bl" rotWithShape="0"/>
                </a:effectLst>
                <a:latin typeface="Amasis MT Pro Black" panose="02040A04050005020304" pitchFamily="18" charset="0"/>
              </a:rPr>
              <a:t>Data Source</a:t>
            </a:r>
          </a:p>
        </p:txBody>
      </p:sp>
      <p:sp>
        <p:nvSpPr>
          <p:cNvPr id="15" name="TextBox 14">
            <a:extLst>
              <a:ext uri="{FF2B5EF4-FFF2-40B4-BE49-F238E27FC236}">
                <a16:creationId xmlns:a16="http://schemas.microsoft.com/office/drawing/2014/main" id="{F375D729-4E16-4FBC-C01C-E0EA17A2DEAB}"/>
              </a:ext>
            </a:extLst>
          </p:cNvPr>
          <p:cNvSpPr txBox="1"/>
          <p:nvPr/>
        </p:nvSpPr>
        <p:spPr>
          <a:xfrm>
            <a:off x="3195485" y="5024829"/>
            <a:ext cx="3785418" cy="954107"/>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marL="457200" indent="-457200">
              <a:buFont typeface="Wingdings" panose="05000000000000000000" pitchFamily="2" charset="2"/>
              <a:buChar char="Ø"/>
            </a:pPr>
            <a:r>
              <a:rPr lang="en-US" sz="2800" b="1" dirty="0">
                <a:ln/>
                <a:solidFill>
                  <a:schemeClr val="accent3"/>
                </a:solidFill>
                <a:latin typeface="Amasis MT Pro Black" panose="02040A04050005020304" pitchFamily="18" charset="0"/>
              </a:rPr>
              <a:t>Kaggle –Uber Dataset</a:t>
            </a:r>
            <a:r>
              <a:rPr lang="en-US" sz="2800" b="1" dirty="0">
                <a:ln/>
                <a:solidFill>
                  <a:schemeClr val="accent3"/>
                </a:solidFill>
              </a:rPr>
              <a:t> </a:t>
            </a:r>
          </a:p>
        </p:txBody>
      </p:sp>
      <p:sp>
        <p:nvSpPr>
          <p:cNvPr id="2" name="TextBox 1">
            <a:extLst>
              <a:ext uri="{FF2B5EF4-FFF2-40B4-BE49-F238E27FC236}">
                <a16:creationId xmlns:a16="http://schemas.microsoft.com/office/drawing/2014/main" id="{3EA19E77-E190-8B32-CC86-E2933C9E302D}"/>
              </a:ext>
            </a:extLst>
          </p:cNvPr>
          <p:cNvSpPr txBox="1"/>
          <p:nvPr/>
        </p:nvSpPr>
        <p:spPr>
          <a:xfrm>
            <a:off x="3211207" y="3287027"/>
            <a:ext cx="2123767" cy="523220"/>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marL="457200" indent="-457200">
              <a:buFont typeface="Wingdings" panose="05000000000000000000" pitchFamily="2" charset="2"/>
              <a:buChar char="Ø"/>
            </a:pPr>
            <a:r>
              <a:rPr lang="en-US" sz="2800" b="1" dirty="0">
                <a:ln/>
                <a:solidFill>
                  <a:schemeClr val="accent3"/>
                </a:solidFill>
                <a:latin typeface="Arial Rounded MT Bold" panose="020F0704030504030204" pitchFamily="34" charset="0"/>
              </a:rPr>
              <a:t>150,000</a:t>
            </a:r>
            <a:r>
              <a:rPr lang="en-US" sz="2800" b="1" dirty="0">
                <a:ln/>
                <a:solidFill>
                  <a:schemeClr val="accent3"/>
                </a:solidFill>
              </a:rPr>
              <a:t> </a:t>
            </a:r>
          </a:p>
        </p:txBody>
      </p:sp>
      <p:sp>
        <p:nvSpPr>
          <p:cNvPr id="3" name="TextBox 2">
            <a:extLst>
              <a:ext uri="{FF2B5EF4-FFF2-40B4-BE49-F238E27FC236}">
                <a16:creationId xmlns:a16="http://schemas.microsoft.com/office/drawing/2014/main" id="{7CA153C7-D579-E4B1-4FDD-59BF7AF3330B}"/>
              </a:ext>
            </a:extLst>
          </p:cNvPr>
          <p:cNvSpPr txBox="1"/>
          <p:nvPr/>
        </p:nvSpPr>
        <p:spPr>
          <a:xfrm>
            <a:off x="3242990" y="4082345"/>
            <a:ext cx="1236577" cy="523220"/>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marL="457200" indent="-457200">
              <a:buFont typeface="Wingdings" panose="05000000000000000000" pitchFamily="2" charset="2"/>
              <a:buChar char="Ø"/>
            </a:pPr>
            <a:r>
              <a:rPr lang="en-US" sz="2800" b="1" dirty="0">
                <a:ln/>
                <a:solidFill>
                  <a:schemeClr val="accent3"/>
                </a:solidFill>
                <a:latin typeface="Amasis MT Pro Black" panose="02040A04050005020304" pitchFamily="18" charset="0"/>
              </a:rPr>
              <a:t>17</a:t>
            </a:r>
            <a:r>
              <a:rPr lang="en-US" sz="2800" b="1" dirty="0">
                <a:ln/>
                <a:solidFill>
                  <a:schemeClr val="accent3"/>
                </a:solidFill>
              </a:rPr>
              <a:t> </a:t>
            </a:r>
          </a:p>
        </p:txBody>
      </p:sp>
      <p:sp>
        <p:nvSpPr>
          <p:cNvPr id="11" name="TextBox 10">
            <a:extLst>
              <a:ext uri="{FF2B5EF4-FFF2-40B4-BE49-F238E27FC236}">
                <a16:creationId xmlns:a16="http://schemas.microsoft.com/office/drawing/2014/main" id="{D4E4C131-9BBB-9435-9D74-FD41A731CAB5}"/>
              </a:ext>
            </a:extLst>
          </p:cNvPr>
          <p:cNvSpPr txBox="1"/>
          <p:nvPr/>
        </p:nvSpPr>
        <p:spPr>
          <a:xfrm>
            <a:off x="639098" y="2562869"/>
            <a:ext cx="2674374" cy="523220"/>
          </a:xfrm>
          <a:prstGeom prst="rect">
            <a:avLst/>
          </a:prstGeom>
          <a:noFill/>
        </p:spPr>
        <p:txBody>
          <a:bodyPr wrap="square" rtlCol="0">
            <a:spAutoFit/>
          </a:bodyPr>
          <a:lstStyle/>
          <a:p>
            <a:r>
              <a:rPr lang="en-US" sz="2800" dirty="0">
                <a:ln w="0"/>
                <a:solidFill>
                  <a:schemeClr val="accent1">
                    <a:lumMod val="75000"/>
                  </a:schemeClr>
                </a:solidFill>
                <a:effectLst>
                  <a:reflection blurRad="6350" stA="53000" endA="300" endPos="35500" dir="5400000" sy="-90000" algn="bl" rotWithShape="0"/>
                </a:effectLst>
                <a:latin typeface="Amasis MT Pro Black" panose="02040A04050005020304" pitchFamily="18" charset="0"/>
              </a:rPr>
              <a:t>Presented By</a:t>
            </a:r>
          </a:p>
        </p:txBody>
      </p:sp>
      <p:sp>
        <p:nvSpPr>
          <p:cNvPr id="16" name="TextBox 15">
            <a:extLst>
              <a:ext uri="{FF2B5EF4-FFF2-40B4-BE49-F238E27FC236}">
                <a16:creationId xmlns:a16="http://schemas.microsoft.com/office/drawing/2014/main" id="{99292CF2-FC33-589D-BDFF-FA993699BBCD}"/>
              </a:ext>
            </a:extLst>
          </p:cNvPr>
          <p:cNvSpPr txBox="1"/>
          <p:nvPr/>
        </p:nvSpPr>
        <p:spPr>
          <a:xfrm>
            <a:off x="3313472" y="2625743"/>
            <a:ext cx="3155811" cy="523220"/>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marL="457200" indent="-457200">
              <a:buFont typeface="Wingdings" panose="05000000000000000000" pitchFamily="2" charset="2"/>
              <a:buChar char="Ø"/>
            </a:pPr>
            <a:r>
              <a:rPr lang="en-US" sz="2800" b="1" dirty="0">
                <a:ln/>
                <a:solidFill>
                  <a:schemeClr val="accent3"/>
                </a:solidFill>
                <a:latin typeface="Arial Rounded MT Bold" panose="020F0704030504030204" pitchFamily="34" charset="0"/>
              </a:rPr>
              <a:t>Ankita </a:t>
            </a:r>
            <a:r>
              <a:rPr lang="en-US" sz="2800" b="1" dirty="0" err="1">
                <a:ln/>
                <a:solidFill>
                  <a:schemeClr val="accent3"/>
                </a:solidFill>
                <a:latin typeface="Arial Rounded MT Bold" panose="020F0704030504030204" pitchFamily="34" charset="0"/>
              </a:rPr>
              <a:t>Kheto</a:t>
            </a:r>
            <a:r>
              <a:rPr lang="en-US" sz="2800" b="1" dirty="0">
                <a:ln/>
                <a:solidFill>
                  <a:schemeClr val="accent3"/>
                </a:solidFill>
              </a:rPr>
              <a:t> </a:t>
            </a:r>
          </a:p>
        </p:txBody>
      </p:sp>
    </p:spTree>
    <p:extLst>
      <p:ext uri="{BB962C8B-B14F-4D97-AF65-F5344CB8AC3E}">
        <p14:creationId xmlns:p14="http://schemas.microsoft.com/office/powerpoint/2010/main" val="3895286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1CF8AA-F287-59CD-2C32-ABA6017F10F1}"/>
              </a:ext>
            </a:extLst>
          </p:cNvPr>
          <p:cNvSpPr/>
          <p:nvPr/>
        </p:nvSpPr>
        <p:spPr>
          <a:xfrm>
            <a:off x="3913239" y="530942"/>
            <a:ext cx="4719484" cy="13961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BE24CC-494F-204F-5DD7-AA6ABA368D49}"/>
              </a:ext>
            </a:extLst>
          </p:cNvPr>
          <p:cNvSpPr txBox="1"/>
          <p:nvPr/>
        </p:nvSpPr>
        <p:spPr>
          <a:xfrm>
            <a:off x="3844412" y="209075"/>
            <a:ext cx="3224981" cy="646331"/>
          </a:xfrm>
          <a:prstGeom prst="rect">
            <a:avLst/>
          </a:prstGeom>
          <a:noFill/>
          <a:ln>
            <a:noFill/>
          </a:ln>
        </p:spPr>
        <p:txBody>
          <a:bodyPr wrap="square" rtlCol="0">
            <a:spAutoFit/>
          </a:bodyPr>
          <a:lstStyle/>
          <a:p>
            <a:r>
              <a:rPr lang="en-US" sz="3600" b="1" dirty="0">
                <a:solidFill>
                  <a:schemeClr val="accent1">
                    <a:lumMod val="75000"/>
                  </a:schemeClr>
                </a:solidFill>
                <a:latin typeface="Amasis MT Pro Black" panose="02040A04050005020304" pitchFamily="18" charset="0"/>
              </a:rPr>
              <a:t>Introduction</a:t>
            </a:r>
          </a:p>
        </p:txBody>
      </p:sp>
      <p:sp>
        <p:nvSpPr>
          <p:cNvPr id="4" name="Rectangle 3">
            <a:extLst>
              <a:ext uri="{FF2B5EF4-FFF2-40B4-BE49-F238E27FC236}">
                <a16:creationId xmlns:a16="http://schemas.microsoft.com/office/drawing/2014/main" id="{9498A2A6-9804-AA41-82F3-045FF445574A}"/>
              </a:ext>
            </a:extLst>
          </p:cNvPr>
          <p:cNvSpPr/>
          <p:nvPr/>
        </p:nvSpPr>
        <p:spPr>
          <a:xfrm>
            <a:off x="383458" y="1742457"/>
            <a:ext cx="8711380" cy="108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a:t>
            </a:r>
          </a:p>
        </p:txBody>
      </p:sp>
      <p:sp>
        <p:nvSpPr>
          <p:cNvPr id="6" name="TextBox 5">
            <a:extLst>
              <a:ext uri="{FF2B5EF4-FFF2-40B4-BE49-F238E27FC236}">
                <a16:creationId xmlns:a16="http://schemas.microsoft.com/office/drawing/2014/main" id="{4EC779DD-132C-177D-32C3-EFD64BD61CDC}"/>
              </a:ext>
            </a:extLst>
          </p:cNvPr>
          <p:cNvSpPr txBox="1"/>
          <p:nvPr/>
        </p:nvSpPr>
        <p:spPr>
          <a:xfrm>
            <a:off x="653844" y="1280792"/>
            <a:ext cx="4458930" cy="461665"/>
          </a:xfrm>
          <a:prstGeom prst="rect">
            <a:avLst/>
          </a:prstGeom>
          <a:noFill/>
          <a:ln>
            <a:noFill/>
          </a:ln>
        </p:spPr>
        <p:txBody>
          <a:bodyPr wrap="square" rtlCol="0">
            <a:spAutoFit/>
          </a:bodyPr>
          <a:lstStyle/>
          <a:p>
            <a:r>
              <a:rPr lang="en-US" sz="2400" b="1" u="sng" dirty="0">
                <a:solidFill>
                  <a:schemeClr val="accent1">
                    <a:lumMod val="60000"/>
                    <a:lumOff val="40000"/>
                  </a:schemeClr>
                </a:solidFill>
                <a:latin typeface="Amasis MT Pro Black" panose="02040A04050005020304" pitchFamily="18" charset="0"/>
              </a:rPr>
              <a:t>Background of the dataset:</a:t>
            </a:r>
          </a:p>
        </p:txBody>
      </p:sp>
      <p:sp>
        <p:nvSpPr>
          <p:cNvPr id="7" name="TextBox 6">
            <a:extLst>
              <a:ext uri="{FF2B5EF4-FFF2-40B4-BE49-F238E27FC236}">
                <a16:creationId xmlns:a16="http://schemas.microsoft.com/office/drawing/2014/main" id="{F784514E-88B6-576C-6DAD-28B2F2073B75}"/>
              </a:ext>
            </a:extLst>
          </p:cNvPr>
          <p:cNvSpPr txBox="1"/>
          <p:nvPr/>
        </p:nvSpPr>
        <p:spPr>
          <a:xfrm>
            <a:off x="250721" y="1471930"/>
            <a:ext cx="403123" cy="790875"/>
          </a:xfrm>
          <a:prstGeom prst="rect">
            <a:avLst/>
          </a:prstGeom>
          <a:noFill/>
        </p:spPr>
        <p:txBody>
          <a:bodyPr wrap="square" rtlCol="0">
            <a:spAutoFit/>
          </a:bodyPr>
          <a:lstStyle/>
          <a:p>
            <a:r>
              <a:rPr lang="en-US" sz="4400" b="1" dirty="0"/>
              <a:t>.</a:t>
            </a:r>
          </a:p>
        </p:txBody>
      </p:sp>
      <p:sp>
        <p:nvSpPr>
          <p:cNvPr id="8" name="TextBox 7">
            <a:extLst>
              <a:ext uri="{FF2B5EF4-FFF2-40B4-BE49-F238E27FC236}">
                <a16:creationId xmlns:a16="http://schemas.microsoft.com/office/drawing/2014/main" id="{D9144E53-DD3C-9818-F6B5-E4A21136BA93}"/>
              </a:ext>
            </a:extLst>
          </p:cNvPr>
          <p:cNvSpPr txBox="1"/>
          <p:nvPr/>
        </p:nvSpPr>
        <p:spPr>
          <a:xfrm>
            <a:off x="363792" y="2927556"/>
            <a:ext cx="403123" cy="790875"/>
          </a:xfrm>
          <a:prstGeom prst="rect">
            <a:avLst/>
          </a:prstGeom>
          <a:noFill/>
        </p:spPr>
        <p:txBody>
          <a:bodyPr wrap="square" rtlCol="0">
            <a:spAutoFit/>
          </a:bodyPr>
          <a:lstStyle/>
          <a:p>
            <a:r>
              <a:rPr lang="en-US" sz="4400" b="1" dirty="0"/>
              <a:t>.</a:t>
            </a:r>
          </a:p>
        </p:txBody>
      </p:sp>
      <p:sp>
        <p:nvSpPr>
          <p:cNvPr id="9" name="TextBox 8">
            <a:extLst>
              <a:ext uri="{FF2B5EF4-FFF2-40B4-BE49-F238E27FC236}">
                <a16:creationId xmlns:a16="http://schemas.microsoft.com/office/drawing/2014/main" id="{F38B2557-28D4-3471-936E-030B30FB570E}"/>
              </a:ext>
            </a:extLst>
          </p:cNvPr>
          <p:cNvSpPr txBox="1"/>
          <p:nvPr/>
        </p:nvSpPr>
        <p:spPr>
          <a:xfrm>
            <a:off x="565353" y="2848400"/>
            <a:ext cx="4468764" cy="461665"/>
          </a:xfrm>
          <a:prstGeom prst="rect">
            <a:avLst/>
          </a:prstGeom>
          <a:noFill/>
          <a:ln>
            <a:noFill/>
          </a:ln>
        </p:spPr>
        <p:txBody>
          <a:bodyPr wrap="square" rtlCol="0">
            <a:spAutoFit/>
          </a:bodyPr>
          <a:lstStyle/>
          <a:p>
            <a:r>
              <a:rPr lang="en-US" sz="2400" b="1" u="sng" dirty="0">
                <a:solidFill>
                  <a:schemeClr val="accent1">
                    <a:lumMod val="60000"/>
                    <a:lumOff val="40000"/>
                  </a:schemeClr>
                </a:solidFill>
                <a:latin typeface="Amasis MT Pro Black" panose="02040A04050005020304" pitchFamily="18" charset="0"/>
              </a:rPr>
              <a:t>Significance of the study:</a:t>
            </a:r>
          </a:p>
        </p:txBody>
      </p:sp>
      <p:sp>
        <p:nvSpPr>
          <p:cNvPr id="10" name="Rectangle 9">
            <a:extLst>
              <a:ext uri="{FF2B5EF4-FFF2-40B4-BE49-F238E27FC236}">
                <a16:creationId xmlns:a16="http://schemas.microsoft.com/office/drawing/2014/main" id="{83EE6BA3-7CA3-6E9F-CA44-7849AED69184}"/>
              </a:ext>
            </a:extLst>
          </p:cNvPr>
          <p:cNvSpPr/>
          <p:nvPr/>
        </p:nvSpPr>
        <p:spPr>
          <a:xfrm>
            <a:off x="565353" y="3208539"/>
            <a:ext cx="8711380" cy="108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80B0EDFE-3F78-8485-DE91-24E8872C4076}"/>
              </a:ext>
            </a:extLst>
          </p:cNvPr>
          <p:cNvSpPr txBox="1"/>
          <p:nvPr/>
        </p:nvSpPr>
        <p:spPr>
          <a:xfrm>
            <a:off x="653844" y="1683052"/>
            <a:ext cx="10151808" cy="923330"/>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 dataset contains Uber ride booking information including ride status, vehicle type, revenue, payment method, riders, and drivers.</a:t>
            </a:r>
          </a:p>
          <a:p>
            <a:r>
              <a:rPr lang="en-US" b="1" dirty="0">
                <a:latin typeface="Calibri" panose="020F0502020204030204" pitchFamily="34" charset="0"/>
                <a:ea typeface="Calibri" panose="020F0502020204030204" pitchFamily="34" charset="0"/>
                <a:cs typeface="Calibri" panose="020F0502020204030204" pitchFamily="34" charset="0"/>
              </a:rPr>
              <a:t>It represents real-world ride activity and helps analyze operational and customer behavior patterns.</a:t>
            </a:r>
          </a:p>
        </p:txBody>
      </p:sp>
      <p:sp>
        <p:nvSpPr>
          <p:cNvPr id="13" name="TextBox 12">
            <a:extLst>
              <a:ext uri="{FF2B5EF4-FFF2-40B4-BE49-F238E27FC236}">
                <a16:creationId xmlns:a16="http://schemas.microsoft.com/office/drawing/2014/main" id="{66D6BE48-21A2-2386-FF0A-DDFCFC0DDA81}"/>
              </a:ext>
            </a:extLst>
          </p:cNvPr>
          <p:cNvSpPr txBox="1"/>
          <p:nvPr/>
        </p:nvSpPr>
        <p:spPr>
          <a:xfrm>
            <a:off x="766915" y="3289626"/>
            <a:ext cx="9517626" cy="1477328"/>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This study is significant because it transforms raw Uber ride data into meaningful insights using Power BI. It helps stakeholders understand booking trends, revenue patterns, vehicle performance, and customer behavior in a simple and visual way. The dashboard supports better decision-making by highlighting key performance areas, identifying issues like cancellations, and improving overall operational efficiency.</a:t>
            </a:r>
          </a:p>
        </p:txBody>
      </p:sp>
    </p:spTree>
    <p:extLst>
      <p:ext uri="{BB962C8B-B14F-4D97-AF65-F5344CB8AC3E}">
        <p14:creationId xmlns:p14="http://schemas.microsoft.com/office/powerpoint/2010/main" val="13356400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DA3B2A-69D7-1641-F9B5-2E272E6B79FF}"/>
              </a:ext>
            </a:extLst>
          </p:cNvPr>
          <p:cNvSpPr txBox="1"/>
          <p:nvPr/>
        </p:nvSpPr>
        <p:spPr>
          <a:xfrm>
            <a:off x="2753033" y="130417"/>
            <a:ext cx="5043948" cy="646331"/>
          </a:xfrm>
          <a:prstGeom prst="rect">
            <a:avLst/>
          </a:prstGeom>
          <a:noFill/>
          <a:ln>
            <a:noFill/>
          </a:ln>
        </p:spPr>
        <p:txBody>
          <a:bodyPr wrap="square" rtlCol="0">
            <a:spAutoFit/>
          </a:bodyPr>
          <a:lstStyle/>
          <a:p>
            <a:r>
              <a:rPr lang="en-US" sz="3600" b="1" dirty="0">
                <a:solidFill>
                  <a:schemeClr val="tx2">
                    <a:lumMod val="75000"/>
                  </a:schemeClr>
                </a:solidFill>
                <a:latin typeface="Amasis MT Pro Black" panose="02040A04050005020304" pitchFamily="18" charset="0"/>
              </a:rPr>
              <a:t>Problems statement</a:t>
            </a:r>
          </a:p>
        </p:txBody>
      </p:sp>
      <p:sp>
        <p:nvSpPr>
          <p:cNvPr id="3" name="TextBox 2">
            <a:extLst>
              <a:ext uri="{FF2B5EF4-FFF2-40B4-BE49-F238E27FC236}">
                <a16:creationId xmlns:a16="http://schemas.microsoft.com/office/drawing/2014/main" id="{E6F7329F-8EE8-9ABF-3AD1-3C913A1B71A6}"/>
              </a:ext>
            </a:extLst>
          </p:cNvPr>
          <p:cNvSpPr txBox="1"/>
          <p:nvPr/>
        </p:nvSpPr>
        <p:spPr>
          <a:xfrm>
            <a:off x="302338" y="268456"/>
            <a:ext cx="403123" cy="790875"/>
          </a:xfrm>
          <a:prstGeom prst="rect">
            <a:avLst/>
          </a:prstGeom>
          <a:noFill/>
        </p:spPr>
        <p:txBody>
          <a:bodyPr wrap="square" rtlCol="0">
            <a:spAutoFit/>
          </a:bodyPr>
          <a:lstStyle/>
          <a:p>
            <a:r>
              <a:rPr lang="en-US" sz="4400" b="1" dirty="0"/>
              <a:t>.</a:t>
            </a:r>
          </a:p>
        </p:txBody>
      </p:sp>
      <p:sp>
        <p:nvSpPr>
          <p:cNvPr id="4" name="Rectangle 3">
            <a:extLst>
              <a:ext uri="{FF2B5EF4-FFF2-40B4-BE49-F238E27FC236}">
                <a16:creationId xmlns:a16="http://schemas.microsoft.com/office/drawing/2014/main" id="{F0196401-C1D1-E007-A109-3E5A6D5677E5}"/>
              </a:ext>
            </a:extLst>
          </p:cNvPr>
          <p:cNvSpPr/>
          <p:nvPr/>
        </p:nvSpPr>
        <p:spPr>
          <a:xfrm>
            <a:off x="540772" y="936210"/>
            <a:ext cx="8711380" cy="108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2D9A5EC-236F-D8CD-8EF8-0A463872F10C}"/>
              </a:ext>
            </a:extLst>
          </p:cNvPr>
          <p:cNvSpPr txBox="1"/>
          <p:nvPr/>
        </p:nvSpPr>
        <p:spPr>
          <a:xfrm>
            <a:off x="312172" y="777003"/>
            <a:ext cx="403123" cy="790875"/>
          </a:xfrm>
          <a:prstGeom prst="rect">
            <a:avLst/>
          </a:prstGeom>
          <a:noFill/>
        </p:spPr>
        <p:txBody>
          <a:bodyPr wrap="square" rtlCol="0">
            <a:spAutoFit/>
          </a:bodyPr>
          <a:lstStyle/>
          <a:p>
            <a:r>
              <a:rPr lang="en-US" sz="4400" b="1" dirty="0"/>
              <a:t>.</a:t>
            </a:r>
          </a:p>
        </p:txBody>
      </p:sp>
      <p:sp>
        <p:nvSpPr>
          <p:cNvPr id="6" name="Rectangle 5">
            <a:extLst>
              <a:ext uri="{FF2B5EF4-FFF2-40B4-BE49-F238E27FC236}">
                <a16:creationId xmlns:a16="http://schemas.microsoft.com/office/drawing/2014/main" id="{E1ED93A4-4319-14DA-B3D4-0749C1D8AF44}"/>
              </a:ext>
            </a:extLst>
          </p:cNvPr>
          <p:cNvSpPr/>
          <p:nvPr/>
        </p:nvSpPr>
        <p:spPr>
          <a:xfrm>
            <a:off x="39327" y="1902525"/>
            <a:ext cx="7865804" cy="72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F604AEC-E854-8A4D-B84C-7D35435126F7}"/>
              </a:ext>
            </a:extLst>
          </p:cNvPr>
          <p:cNvSpPr txBox="1"/>
          <p:nvPr/>
        </p:nvSpPr>
        <p:spPr>
          <a:xfrm>
            <a:off x="277759" y="1358736"/>
            <a:ext cx="403123" cy="790875"/>
          </a:xfrm>
          <a:prstGeom prst="rect">
            <a:avLst/>
          </a:prstGeom>
          <a:noFill/>
        </p:spPr>
        <p:txBody>
          <a:bodyPr wrap="square" rtlCol="0">
            <a:spAutoFit/>
          </a:bodyPr>
          <a:lstStyle/>
          <a:p>
            <a:r>
              <a:rPr lang="en-US" sz="4400" b="1" dirty="0"/>
              <a:t>.</a:t>
            </a:r>
          </a:p>
        </p:txBody>
      </p:sp>
      <p:sp>
        <p:nvSpPr>
          <p:cNvPr id="8" name="Rectangle 7">
            <a:extLst>
              <a:ext uri="{FF2B5EF4-FFF2-40B4-BE49-F238E27FC236}">
                <a16:creationId xmlns:a16="http://schemas.microsoft.com/office/drawing/2014/main" id="{AD49F83E-0C9C-69C3-1F04-7E9EA756ADA7}"/>
              </a:ext>
            </a:extLst>
          </p:cNvPr>
          <p:cNvSpPr/>
          <p:nvPr/>
        </p:nvSpPr>
        <p:spPr>
          <a:xfrm>
            <a:off x="339211" y="2685122"/>
            <a:ext cx="5968176" cy="72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70FE33D-9609-77C8-CB5C-7A85A67DE146}"/>
              </a:ext>
            </a:extLst>
          </p:cNvPr>
          <p:cNvSpPr txBox="1"/>
          <p:nvPr/>
        </p:nvSpPr>
        <p:spPr>
          <a:xfrm>
            <a:off x="351496" y="2117508"/>
            <a:ext cx="403123" cy="790875"/>
          </a:xfrm>
          <a:prstGeom prst="rect">
            <a:avLst/>
          </a:prstGeom>
          <a:noFill/>
        </p:spPr>
        <p:txBody>
          <a:bodyPr wrap="square" rtlCol="0">
            <a:spAutoFit/>
          </a:bodyPr>
          <a:lstStyle/>
          <a:p>
            <a:r>
              <a:rPr lang="en-US" sz="4400" b="1" dirty="0"/>
              <a:t>.</a:t>
            </a:r>
          </a:p>
        </p:txBody>
      </p:sp>
      <p:sp>
        <p:nvSpPr>
          <p:cNvPr id="10" name="Rectangle 9">
            <a:extLst>
              <a:ext uri="{FF2B5EF4-FFF2-40B4-BE49-F238E27FC236}">
                <a16:creationId xmlns:a16="http://schemas.microsoft.com/office/drawing/2014/main" id="{30353424-89F5-F27D-6FFC-E9294CC949CF}"/>
              </a:ext>
            </a:extLst>
          </p:cNvPr>
          <p:cNvSpPr/>
          <p:nvPr/>
        </p:nvSpPr>
        <p:spPr>
          <a:xfrm>
            <a:off x="447366" y="3482471"/>
            <a:ext cx="6563034" cy="72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E0C167E-8A55-DFFE-C960-A3CE0CB7708D}"/>
              </a:ext>
            </a:extLst>
          </p:cNvPr>
          <p:cNvSpPr txBox="1"/>
          <p:nvPr/>
        </p:nvSpPr>
        <p:spPr>
          <a:xfrm>
            <a:off x="339210" y="2672874"/>
            <a:ext cx="403123" cy="790875"/>
          </a:xfrm>
          <a:prstGeom prst="rect">
            <a:avLst/>
          </a:prstGeom>
          <a:noFill/>
        </p:spPr>
        <p:txBody>
          <a:bodyPr wrap="square" rtlCol="0">
            <a:spAutoFit/>
          </a:bodyPr>
          <a:lstStyle/>
          <a:p>
            <a:r>
              <a:rPr lang="en-US" sz="4400" b="1" dirty="0"/>
              <a:t>.</a:t>
            </a:r>
          </a:p>
        </p:txBody>
      </p:sp>
      <p:sp>
        <p:nvSpPr>
          <p:cNvPr id="12" name="Rectangle 11">
            <a:extLst>
              <a:ext uri="{FF2B5EF4-FFF2-40B4-BE49-F238E27FC236}">
                <a16:creationId xmlns:a16="http://schemas.microsoft.com/office/drawing/2014/main" id="{66F253B8-1C15-23AF-1979-00EC9F4CD5AD}"/>
              </a:ext>
            </a:extLst>
          </p:cNvPr>
          <p:cNvSpPr/>
          <p:nvPr/>
        </p:nvSpPr>
        <p:spPr>
          <a:xfrm>
            <a:off x="2753033" y="4202997"/>
            <a:ext cx="4830090" cy="4173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E6F00544-8288-8F7D-2A51-44153D546E44}"/>
              </a:ext>
            </a:extLst>
          </p:cNvPr>
          <p:cNvSpPr txBox="1"/>
          <p:nvPr/>
        </p:nvSpPr>
        <p:spPr>
          <a:xfrm>
            <a:off x="585018" y="629774"/>
            <a:ext cx="10456608" cy="400110"/>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Uber generates large volumes of ride and revenue data which is difficult to analyze in raw form.</a:t>
            </a:r>
          </a:p>
        </p:txBody>
      </p:sp>
      <p:sp>
        <p:nvSpPr>
          <p:cNvPr id="16" name="TextBox 15">
            <a:extLst>
              <a:ext uri="{FF2B5EF4-FFF2-40B4-BE49-F238E27FC236}">
                <a16:creationId xmlns:a16="http://schemas.microsoft.com/office/drawing/2014/main" id="{8756386F-A0D6-0A59-F131-2B0DFE1E2DCC}"/>
              </a:ext>
            </a:extLst>
          </p:cNvPr>
          <p:cNvSpPr txBox="1"/>
          <p:nvPr/>
        </p:nvSpPr>
        <p:spPr>
          <a:xfrm>
            <a:off x="594850" y="1066706"/>
            <a:ext cx="10299292"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There is no single view to monitor key performance indicators like total rides, revenue, riders, and </a:t>
            </a:r>
            <a:r>
              <a:rPr lang="en-US" b="1" dirty="0"/>
              <a:t>drivers</a:t>
            </a:r>
            <a:r>
              <a:rPr lang="en-US" sz="2000" b="1" dirty="0"/>
              <a:t>.</a:t>
            </a:r>
          </a:p>
        </p:txBody>
      </p:sp>
      <p:sp>
        <p:nvSpPr>
          <p:cNvPr id="18" name="TextBox 17">
            <a:extLst>
              <a:ext uri="{FF2B5EF4-FFF2-40B4-BE49-F238E27FC236}">
                <a16:creationId xmlns:a16="http://schemas.microsoft.com/office/drawing/2014/main" id="{F8BB9B1D-42C5-D51E-2EDF-01146A44565B}"/>
              </a:ext>
            </a:extLst>
          </p:cNvPr>
          <p:cNvSpPr txBox="1"/>
          <p:nvPr/>
        </p:nvSpPr>
        <p:spPr>
          <a:xfrm>
            <a:off x="614509" y="1714447"/>
            <a:ext cx="10299292"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Understanding vehicle-wise performance and customer preferences is challenging without proper visualization.</a:t>
            </a:r>
          </a:p>
        </p:txBody>
      </p:sp>
      <p:sp>
        <p:nvSpPr>
          <p:cNvPr id="20" name="TextBox 19">
            <a:extLst>
              <a:ext uri="{FF2B5EF4-FFF2-40B4-BE49-F238E27FC236}">
                <a16:creationId xmlns:a16="http://schemas.microsoft.com/office/drawing/2014/main" id="{0E2E521E-21D4-D268-AF9D-0654D53948FB}"/>
              </a:ext>
            </a:extLst>
          </p:cNvPr>
          <p:cNvSpPr txBox="1"/>
          <p:nvPr/>
        </p:nvSpPr>
        <p:spPr>
          <a:xfrm>
            <a:off x="656300" y="2445219"/>
            <a:ext cx="9522543" cy="400110"/>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Identifying revenue trends and popular payment methods is not easy using raw data.</a:t>
            </a:r>
          </a:p>
        </p:txBody>
      </p:sp>
      <p:sp>
        <p:nvSpPr>
          <p:cNvPr id="22" name="TextBox 21">
            <a:extLst>
              <a:ext uri="{FF2B5EF4-FFF2-40B4-BE49-F238E27FC236}">
                <a16:creationId xmlns:a16="http://schemas.microsoft.com/office/drawing/2014/main" id="{7D121BDB-F010-3EE5-3B5C-9939E767FBF5}"/>
              </a:ext>
            </a:extLst>
          </p:cNvPr>
          <p:cNvSpPr txBox="1"/>
          <p:nvPr/>
        </p:nvSpPr>
        <p:spPr>
          <a:xfrm>
            <a:off x="656300" y="3016907"/>
            <a:ext cx="10574596"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Booking cancellations and performance issues cannot be effectively tracked without an analytical dashboard.</a:t>
            </a:r>
          </a:p>
        </p:txBody>
      </p:sp>
      <p:sp>
        <p:nvSpPr>
          <p:cNvPr id="13" name="TextBox 12">
            <a:extLst>
              <a:ext uri="{FF2B5EF4-FFF2-40B4-BE49-F238E27FC236}">
                <a16:creationId xmlns:a16="http://schemas.microsoft.com/office/drawing/2014/main" id="{14C037DB-8EEE-A020-6CD5-20774478274B}"/>
              </a:ext>
            </a:extLst>
          </p:cNvPr>
          <p:cNvSpPr txBox="1"/>
          <p:nvPr/>
        </p:nvSpPr>
        <p:spPr>
          <a:xfrm>
            <a:off x="2959510" y="3478451"/>
            <a:ext cx="3873903" cy="646331"/>
          </a:xfrm>
          <a:prstGeom prst="rect">
            <a:avLst/>
          </a:prstGeom>
          <a:noFill/>
          <a:ln>
            <a:noFill/>
          </a:ln>
        </p:spPr>
        <p:txBody>
          <a:bodyPr wrap="square" rtlCol="0">
            <a:spAutoFit/>
          </a:bodyPr>
          <a:lstStyle/>
          <a:p>
            <a:r>
              <a:rPr lang="en-US" sz="3600" b="1" dirty="0">
                <a:solidFill>
                  <a:schemeClr val="accent1">
                    <a:lumMod val="75000"/>
                  </a:schemeClr>
                </a:solidFill>
                <a:latin typeface="Amasis MT Pro Black" panose="02040A04050005020304" pitchFamily="18" charset="0"/>
              </a:rPr>
              <a:t>Data Modeling</a:t>
            </a:r>
          </a:p>
        </p:txBody>
      </p:sp>
      <p:sp>
        <p:nvSpPr>
          <p:cNvPr id="15" name="TextBox 14">
            <a:extLst>
              <a:ext uri="{FF2B5EF4-FFF2-40B4-BE49-F238E27FC236}">
                <a16:creationId xmlns:a16="http://schemas.microsoft.com/office/drawing/2014/main" id="{6E16E431-EA20-6EFB-8949-F8DE5D7B20CD}"/>
              </a:ext>
            </a:extLst>
          </p:cNvPr>
          <p:cNvSpPr txBox="1"/>
          <p:nvPr/>
        </p:nvSpPr>
        <p:spPr>
          <a:xfrm>
            <a:off x="351496" y="4767616"/>
            <a:ext cx="7474985"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One-to-Many relationships are created between Vehicle IMG and Uber, and Calendar and Uber, where Uber acts as the fact table.</a:t>
            </a:r>
          </a:p>
        </p:txBody>
      </p:sp>
      <p:pic>
        <p:nvPicPr>
          <p:cNvPr id="19" name="Picture 18">
            <a:extLst>
              <a:ext uri="{FF2B5EF4-FFF2-40B4-BE49-F238E27FC236}">
                <a16:creationId xmlns:a16="http://schemas.microsoft.com/office/drawing/2014/main" id="{13444CC5-6F94-7461-8D74-B331DB836F36}"/>
              </a:ext>
            </a:extLst>
          </p:cNvPr>
          <p:cNvPicPr>
            <a:picLocks noChangeAspect="1"/>
          </p:cNvPicPr>
          <p:nvPr/>
        </p:nvPicPr>
        <p:blipFill>
          <a:blip r:embed="rId2"/>
          <a:stretch>
            <a:fillRect/>
          </a:stretch>
        </p:blipFill>
        <p:spPr>
          <a:xfrm>
            <a:off x="7640377" y="3761615"/>
            <a:ext cx="4229627" cy="3003199"/>
          </a:xfrm>
          <a:prstGeom prst="rect">
            <a:avLst/>
          </a:prstGeom>
          <a:ln>
            <a:solidFill>
              <a:srgbClr val="92D050"/>
            </a:solidFill>
          </a:ln>
        </p:spPr>
      </p:pic>
    </p:spTree>
    <p:extLst>
      <p:ext uri="{BB962C8B-B14F-4D97-AF65-F5344CB8AC3E}">
        <p14:creationId xmlns:p14="http://schemas.microsoft.com/office/powerpoint/2010/main" val="503350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8027731-5E35-6269-53CB-755C3B9458D5}"/>
              </a:ext>
            </a:extLst>
          </p:cNvPr>
          <p:cNvSpPr txBox="1"/>
          <p:nvPr/>
        </p:nvSpPr>
        <p:spPr>
          <a:xfrm>
            <a:off x="1430262" y="-125409"/>
            <a:ext cx="5604386" cy="523220"/>
          </a:xfrm>
          <a:prstGeom prst="rect">
            <a:avLst/>
          </a:prstGeom>
          <a:noFill/>
          <a:ln>
            <a:noFill/>
          </a:ln>
        </p:spPr>
        <p:txBody>
          <a:bodyPr wrap="square" rtlCol="0">
            <a:spAutoFit/>
          </a:bodyPr>
          <a:lstStyle/>
          <a:p>
            <a:r>
              <a:rPr lang="en-US" sz="2800" b="1" dirty="0">
                <a:solidFill>
                  <a:schemeClr val="accent4"/>
                </a:solidFill>
                <a:latin typeface="Amasis MT Pro Black" panose="02040A04050005020304" pitchFamily="18" charset="0"/>
              </a:rPr>
              <a:t>Overview Dashboard</a:t>
            </a:r>
          </a:p>
        </p:txBody>
      </p:sp>
      <p:sp>
        <p:nvSpPr>
          <p:cNvPr id="9" name="Rectangle 8">
            <a:extLst>
              <a:ext uri="{FF2B5EF4-FFF2-40B4-BE49-F238E27FC236}">
                <a16:creationId xmlns:a16="http://schemas.microsoft.com/office/drawing/2014/main" id="{6C7E9717-BA53-442F-DB68-296CC64EFCF8}"/>
              </a:ext>
            </a:extLst>
          </p:cNvPr>
          <p:cNvSpPr/>
          <p:nvPr/>
        </p:nvSpPr>
        <p:spPr>
          <a:xfrm>
            <a:off x="501445" y="646331"/>
            <a:ext cx="6936326" cy="72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398C4887-7E3A-DA6D-A2D0-CDB5D6C19215}"/>
              </a:ext>
            </a:extLst>
          </p:cNvPr>
          <p:cNvSpPr txBox="1"/>
          <p:nvPr/>
        </p:nvSpPr>
        <p:spPr>
          <a:xfrm>
            <a:off x="0" y="510790"/>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Completed Bookings</a:t>
            </a:r>
          </a:p>
        </p:txBody>
      </p:sp>
      <p:sp>
        <p:nvSpPr>
          <p:cNvPr id="8" name="TextBox 7">
            <a:extLst>
              <a:ext uri="{FF2B5EF4-FFF2-40B4-BE49-F238E27FC236}">
                <a16:creationId xmlns:a16="http://schemas.microsoft.com/office/drawing/2014/main" id="{F119B0B6-75CD-DE49-1A0C-6D113BD398B7}"/>
              </a:ext>
            </a:extLst>
          </p:cNvPr>
          <p:cNvSpPr txBox="1"/>
          <p:nvPr/>
        </p:nvSpPr>
        <p:spPr>
          <a:xfrm>
            <a:off x="250721" y="707471"/>
            <a:ext cx="854915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Total 23K bookings successfully completed, showing strong service usage and demand.</a:t>
            </a:r>
          </a:p>
        </p:txBody>
      </p:sp>
      <p:sp>
        <p:nvSpPr>
          <p:cNvPr id="10" name="TextBox 9">
            <a:extLst>
              <a:ext uri="{FF2B5EF4-FFF2-40B4-BE49-F238E27FC236}">
                <a16:creationId xmlns:a16="http://schemas.microsoft.com/office/drawing/2014/main" id="{4A7C9495-46C3-BD6C-83E1-6D32E41C44BC}"/>
              </a:ext>
            </a:extLst>
          </p:cNvPr>
          <p:cNvSpPr txBox="1"/>
          <p:nvPr/>
        </p:nvSpPr>
        <p:spPr>
          <a:xfrm>
            <a:off x="0" y="1283527"/>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Lost Bookings</a:t>
            </a:r>
          </a:p>
        </p:txBody>
      </p:sp>
      <p:sp>
        <p:nvSpPr>
          <p:cNvPr id="11" name="TextBox 10">
            <a:extLst>
              <a:ext uri="{FF2B5EF4-FFF2-40B4-BE49-F238E27FC236}">
                <a16:creationId xmlns:a16="http://schemas.microsoft.com/office/drawing/2014/main" id="{3FE4D27A-7700-5ED3-C22C-9DF3B9C4F10F}"/>
              </a:ext>
            </a:extLst>
          </p:cNvPr>
          <p:cNvSpPr txBox="1"/>
          <p:nvPr/>
        </p:nvSpPr>
        <p:spPr>
          <a:xfrm>
            <a:off x="250721" y="1461222"/>
            <a:ext cx="854915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14K bookings were lost, indicating opportunities to improve availability and conversion.</a:t>
            </a:r>
          </a:p>
        </p:txBody>
      </p:sp>
      <p:sp>
        <p:nvSpPr>
          <p:cNvPr id="12" name="TextBox 11">
            <a:extLst>
              <a:ext uri="{FF2B5EF4-FFF2-40B4-BE49-F238E27FC236}">
                <a16:creationId xmlns:a16="http://schemas.microsoft.com/office/drawing/2014/main" id="{20E99F79-1D3E-2466-2A39-BBCD08B36E81}"/>
              </a:ext>
            </a:extLst>
          </p:cNvPr>
          <p:cNvSpPr txBox="1"/>
          <p:nvPr/>
        </p:nvSpPr>
        <p:spPr>
          <a:xfrm>
            <a:off x="78657" y="1992107"/>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Revenue</a:t>
            </a:r>
          </a:p>
        </p:txBody>
      </p:sp>
      <p:sp>
        <p:nvSpPr>
          <p:cNvPr id="13" name="TextBox 12">
            <a:extLst>
              <a:ext uri="{FF2B5EF4-FFF2-40B4-BE49-F238E27FC236}">
                <a16:creationId xmlns:a16="http://schemas.microsoft.com/office/drawing/2014/main" id="{75CA8490-1F87-B0F4-5847-A851980C5368}"/>
              </a:ext>
            </a:extLst>
          </p:cNvPr>
          <p:cNvSpPr txBox="1"/>
          <p:nvPr/>
        </p:nvSpPr>
        <p:spPr>
          <a:xfrm>
            <a:off x="353959" y="2145399"/>
            <a:ext cx="854915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The platform generated 13M total revenue, reflecting overall business performance.</a:t>
            </a:r>
          </a:p>
        </p:txBody>
      </p:sp>
      <p:sp>
        <p:nvSpPr>
          <p:cNvPr id="14" name="TextBox 13">
            <a:extLst>
              <a:ext uri="{FF2B5EF4-FFF2-40B4-BE49-F238E27FC236}">
                <a16:creationId xmlns:a16="http://schemas.microsoft.com/office/drawing/2014/main" id="{775A6842-75B8-58AF-4E8C-4EA5576F3C05}"/>
              </a:ext>
            </a:extLst>
          </p:cNvPr>
          <p:cNvSpPr txBox="1"/>
          <p:nvPr/>
        </p:nvSpPr>
        <p:spPr>
          <a:xfrm>
            <a:off x="78656" y="2694510"/>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Total Distance</a:t>
            </a:r>
          </a:p>
        </p:txBody>
      </p:sp>
      <p:sp>
        <p:nvSpPr>
          <p:cNvPr id="15" name="TextBox 14">
            <a:extLst>
              <a:ext uri="{FF2B5EF4-FFF2-40B4-BE49-F238E27FC236}">
                <a16:creationId xmlns:a16="http://schemas.microsoft.com/office/drawing/2014/main" id="{FF52D500-0096-6024-5EC1-6F080EAFC793}"/>
              </a:ext>
            </a:extLst>
          </p:cNvPr>
          <p:cNvSpPr txBox="1"/>
          <p:nvPr/>
        </p:nvSpPr>
        <p:spPr>
          <a:xfrm>
            <a:off x="353959" y="2892263"/>
            <a:ext cx="8549150" cy="400110"/>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Vehicles covered 625.62K km, showing high operational activity.</a:t>
            </a:r>
          </a:p>
        </p:txBody>
      </p:sp>
      <p:sp>
        <p:nvSpPr>
          <p:cNvPr id="16" name="TextBox 15">
            <a:extLst>
              <a:ext uri="{FF2B5EF4-FFF2-40B4-BE49-F238E27FC236}">
                <a16:creationId xmlns:a16="http://schemas.microsoft.com/office/drawing/2014/main" id="{2B3A2243-D4FF-8B3E-32C7-89B9824A0DB3}"/>
              </a:ext>
            </a:extLst>
          </p:cNvPr>
          <p:cNvSpPr txBox="1"/>
          <p:nvPr/>
        </p:nvSpPr>
        <p:spPr>
          <a:xfrm>
            <a:off x="-1" y="3125099"/>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Average Distance</a:t>
            </a:r>
          </a:p>
        </p:txBody>
      </p:sp>
      <p:sp>
        <p:nvSpPr>
          <p:cNvPr id="17" name="TextBox 16">
            <a:extLst>
              <a:ext uri="{FF2B5EF4-FFF2-40B4-BE49-F238E27FC236}">
                <a16:creationId xmlns:a16="http://schemas.microsoft.com/office/drawing/2014/main" id="{EB87ADE5-AA67-174A-B288-8B76DD91AEF7}"/>
              </a:ext>
            </a:extLst>
          </p:cNvPr>
          <p:cNvSpPr txBox="1"/>
          <p:nvPr/>
        </p:nvSpPr>
        <p:spPr>
          <a:xfrm>
            <a:off x="353959" y="3344324"/>
            <a:ext cx="8549150" cy="400110"/>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Average trip distance is 24.62 km, indicating medium to long trips.</a:t>
            </a:r>
          </a:p>
        </p:txBody>
      </p:sp>
      <p:sp>
        <p:nvSpPr>
          <p:cNvPr id="19" name="TextBox 18">
            <a:extLst>
              <a:ext uri="{FF2B5EF4-FFF2-40B4-BE49-F238E27FC236}">
                <a16:creationId xmlns:a16="http://schemas.microsoft.com/office/drawing/2014/main" id="{80D33581-A4C6-3D90-8EE5-040B49016570}"/>
              </a:ext>
            </a:extLst>
          </p:cNvPr>
          <p:cNvSpPr txBox="1"/>
          <p:nvPr/>
        </p:nvSpPr>
        <p:spPr>
          <a:xfrm>
            <a:off x="9831" y="3871268"/>
            <a:ext cx="42966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Completed Bookings (Month/Quarter)</a:t>
            </a:r>
          </a:p>
        </p:txBody>
      </p:sp>
      <p:sp>
        <p:nvSpPr>
          <p:cNvPr id="20" name="TextBox 19">
            <a:extLst>
              <a:ext uri="{FF2B5EF4-FFF2-40B4-BE49-F238E27FC236}">
                <a16:creationId xmlns:a16="http://schemas.microsoft.com/office/drawing/2014/main" id="{446DD784-23E4-DE2C-4B49-EA2151621112}"/>
              </a:ext>
            </a:extLst>
          </p:cNvPr>
          <p:cNvSpPr txBox="1"/>
          <p:nvPr/>
        </p:nvSpPr>
        <p:spPr>
          <a:xfrm>
            <a:off x="353959" y="4064572"/>
            <a:ext cx="8327925" cy="584775"/>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Bookings peaked in May/Q2 and declined towards the end of the year, with February/Q4 being the lowest.</a:t>
            </a:r>
          </a:p>
        </p:txBody>
      </p:sp>
      <p:sp>
        <p:nvSpPr>
          <p:cNvPr id="21" name="TextBox 20">
            <a:extLst>
              <a:ext uri="{FF2B5EF4-FFF2-40B4-BE49-F238E27FC236}">
                <a16:creationId xmlns:a16="http://schemas.microsoft.com/office/drawing/2014/main" id="{C674502D-CA16-E1DD-F08B-A40EB715DB29}"/>
              </a:ext>
            </a:extLst>
          </p:cNvPr>
          <p:cNvSpPr txBox="1"/>
          <p:nvPr/>
        </p:nvSpPr>
        <p:spPr>
          <a:xfrm>
            <a:off x="9831" y="4541626"/>
            <a:ext cx="42966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Bookings Count (Month/Quarter)</a:t>
            </a:r>
          </a:p>
        </p:txBody>
      </p:sp>
      <p:sp>
        <p:nvSpPr>
          <p:cNvPr id="22" name="TextBox 21">
            <a:extLst>
              <a:ext uri="{FF2B5EF4-FFF2-40B4-BE49-F238E27FC236}">
                <a16:creationId xmlns:a16="http://schemas.microsoft.com/office/drawing/2014/main" id="{17330C8C-0BE5-BDD5-834F-AD5164FEFE1D}"/>
              </a:ext>
            </a:extLst>
          </p:cNvPr>
          <p:cNvSpPr txBox="1"/>
          <p:nvPr/>
        </p:nvSpPr>
        <p:spPr>
          <a:xfrm>
            <a:off x="353959" y="200109"/>
            <a:ext cx="651554" cy="338554"/>
          </a:xfrm>
          <a:prstGeom prst="rect">
            <a:avLst/>
          </a:prstGeom>
          <a:noFill/>
          <a:ln>
            <a:noFill/>
          </a:ln>
        </p:spPr>
        <p:txBody>
          <a:bodyPr wrap="square" rtlCol="0">
            <a:spAutoFit/>
          </a:bodyPr>
          <a:lstStyle/>
          <a:p>
            <a:r>
              <a:rPr lang="en-US" sz="1600" b="1" dirty="0">
                <a:solidFill>
                  <a:schemeClr val="accent5">
                    <a:lumMod val="75000"/>
                  </a:schemeClr>
                </a:solidFill>
                <a:latin typeface="Amasis MT Pro Black" panose="02040A04050005020304" pitchFamily="18" charset="0"/>
              </a:rPr>
              <a:t>KPI</a:t>
            </a:r>
          </a:p>
        </p:txBody>
      </p:sp>
      <p:sp>
        <p:nvSpPr>
          <p:cNvPr id="23" name="TextBox 22">
            <a:extLst>
              <a:ext uri="{FF2B5EF4-FFF2-40B4-BE49-F238E27FC236}">
                <a16:creationId xmlns:a16="http://schemas.microsoft.com/office/drawing/2014/main" id="{9E5E183B-2BD6-889F-A4D0-55E4F57D4BE0}"/>
              </a:ext>
            </a:extLst>
          </p:cNvPr>
          <p:cNvSpPr txBox="1"/>
          <p:nvPr/>
        </p:nvSpPr>
        <p:spPr>
          <a:xfrm>
            <a:off x="114379" y="3657890"/>
            <a:ext cx="1210680" cy="338554"/>
          </a:xfrm>
          <a:prstGeom prst="rect">
            <a:avLst/>
          </a:prstGeom>
          <a:noFill/>
          <a:ln>
            <a:noFill/>
          </a:ln>
        </p:spPr>
        <p:txBody>
          <a:bodyPr wrap="square" rtlCol="0">
            <a:spAutoFit/>
          </a:bodyPr>
          <a:lstStyle/>
          <a:p>
            <a:r>
              <a:rPr lang="en-US" sz="1600" b="1" dirty="0">
                <a:solidFill>
                  <a:schemeClr val="accent5">
                    <a:lumMod val="75000"/>
                  </a:schemeClr>
                </a:solidFill>
                <a:latin typeface="Amasis MT Pro Black" panose="02040A04050005020304" pitchFamily="18" charset="0"/>
              </a:rPr>
              <a:t>Charts</a:t>
            </a:r>
          </a:p>
        </p:txBody>
      </p:sp>
      <p:sp>
        <p:nvSpPr>
          <p:cNvPr id="24" name="TextBox 23">
            <a:extLst>
              <a:ext uri="{FF2B5EF4-FFF2-40B4-BE49-F238E27FC236}">
                <a16:creationId xmlns:a16="http://schemas.microsoft.com/office/drawing/2014/main" id="{A8C9E22F-B64A-53A3-6952-3FB109CDDF7F}"/>
              </a:ext>
            </a:extLst>
          </p:cNvPr>
          <p:cNvSpPr txBox="1"/>
          <p:nvPr/>
        </p:nvSpPr>
        <p:spPr>
          <a:xfrm>
            <a:off x="250721" y="4805874"/>
            <a:ext cx="8549150" cy="646331"/>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H</a:t>
            </a:r>
            <a:r>
              <a:rPr lang="en-US" sz="1600" b="1" dirty="0">
                <a:latin typeface="Calibri" panose="020F0502020204030204" pitchFamily="34" charset="0"/>
                <a:ea typeface="Calibri" panose="020F0502020204030204" pitchFamily="34" charset="0"/>
                <a:cs typeface="Calibri" panose="020F0502020204030204" pitchFamily="34" charset="0"/>
              </a:rPr>
              <a:t>ighest booking volume is observed in May/Q3, while a drop is seen during September to November.</a:t>
            </a:r>
          </a:p>
        </p:txBody>
      </p:sp>
      <p:sp>
        <p:nvSpPr>
          <p:cNvPr id="25" name="TextBox 24">
            <a:extLst>
              <a:ext uri="{FF2B5EF4-FFF2-40B4-BE49-F238E27FC236}">
                <a16:creationId xmlns:a16="http://schemas.microsoft.com/office/drawing/2014/main" id="{69279B52-9E14-D555-EC08-09E943372E76}"/>
              </a:ext>
            </a:extLst>
          </p:cNvPr>
          <p:cNvSpPr txBox="1"/>
          <p:nvPr/>
        </p:nvSpPr>
        <p:spPr>
          <a:xfrm>
            <a:off x="9831" y="5308819"/>
            <a:ext cx="42966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Revenue by Vehicle</a:t>
            </a:r>
          </a:p>
        </p:txBody>
      </p:sp>
      <p:sp>
        <p:nvSpPr>
          <p:cNvPr id="26" name="TextBox 25">
            <a:extLst>
              <a:ext uri="{FF2B5EF4-FFF2-40B4-BE49-F238E27FC236}">
                <a16:creationId xmlns:a16="http://schemas.microsoft.com/office/drawing/2014/main" id="{E2B52FBA-8FD9-7DD3-14DA-0BEBA891AB77}"/>
              </a:ext>
            </a:extLst>
          </p:cNvPr>
          <p:cNvSpPr txBox="1"/>
          <p:nvPr/>
        </p:nvSpPr>
        <p:spPr>
          <a:xfrm>
            <a:off x="353959" y="5478096"/>
            <a:ext cx="8549150" cy="338554"/>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Auto and Bike generate the highest revenue, while Uber XL contributes the least.</a:t>
            </a:r>
          </a:p>
        </p:txBody>
      </p:sp>
      <p:sp>
        <p:nvSpPr>
          <p:cNvPr id="27" name="TextBox 26">
            <a:extLst>
              <a:ext uri="{FF2B5EF4-FFF2-40B4-BE49-F238E27FC236}">
                <a16:creationId xmlns:a16="http://schemas.microsoft.com/office/drawing/2014/main" id="{FCB3B806-AAF0-14EE-DFEC-C5AB1229A04D}"/>
              </a:ext>
            </a:extLst>
          </p:cNvPr>
          <p:cNvSpPr txBox="1"/>
          <p:nvPr/>
        </p:nvSpPr>
        <p:spPr>
          <a:xfrm>
            <a:off x="78657" y="5711567"/>
            <a:ext cx="2271254"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Customer Rating</a:t>
            </a:r>
          </a:p>
        </p:txBody>
      </p:sp>
      <p:sp>
        <p:nvSpPr>
          <p:cNvPr id="28" name="TextBox 27">
            <a:extLst>
              <a:ext uri="{FF2B5EF4-FFF2-40B4-BE49-F238E27FC236}">
                <a16:creationId xmlns:a16="http://schemas.microsoft.com/office/drawing/2014/main" id="{4F1D6963-AE29-AE0F-2CA5-DA05A7143F0D}"/>
              </a:ext>
            </a:extLst>
          </p:cNvPr>
          <p:cNvSpPr txBox="1"/>
          <p:nvPr/>
        </p:nvSpPr>
        <p:spPr>
          <a:xfrm>
            <a:off x="353959" y="5981252"/>
            <a:ext cx="8549150" cy="338554"/>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Average customer rating is 4.40, indicating high customer satisfaction.</a:t>
            </a:r>
          </a:p>
        </p:txBody>
      </p:sp>
      <p:sp>
        <p:nvSpPr>
          <p:cNvPr id="29" name="TextBox 28">
            <a:extLst>
              <a:ext uri="{FF2B5EF4-FFF2-40B4-BE49-F238E27FC236}">
                <a16:creationId xmlns:a16="http://schemas.microsoft.com/office/drawing/2014/main" id="{5866964C-A6D7-E723-F5AF-DC31606BFF05}"/>
              </a:ext>
            </a:extLst>
          </p:cNvPr>
          <p:cNvSpPr txBox="1"/>
          <p:nvPr/>
        </p:nvSpPr>
        <p:spPr>
          <a:xfrm>
            <a:off x="114379" y="6137568"/>
            <a:ext cx="2271254"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Driver Rating</a:t>
            </a:r>
          </a:p>
        </p:txBody>
      </p:sp>
      <p:sp>
        <p:nvSpPr>
          <p:cNvPr id="30" name="TextBox 29">
            <a:extLst>
              <a:ext uri="{FF2B5EF4-FFF2-40B4-BE49-F238E27FC236}">
                <a16:creationId xmlns:a16="http://schemas.microsoft.com/office/drawing/2014/main" id="{AB405E8A-BEBD-2B40-CEC8-8266E5D01C93}"/>
              </a:ext>
            </a:extLst>
          </p:cNvPr>
          <p:cNvSpPr txBox="1"/>
          <p:nvPr/>
        </p:nvSpPr>
        <p:spPr>
          <a:xfrm>
            <a:off x="353959" y="6331408"/>
            <a:ext cx="8549150" cy="338554"/>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Average driver rating is 4.23, showing good driver performance.</a:t>
            </a:r>
          </a:p>
        </p:txBody>
      </p:sp>
      <p:pic>
        <p:nvPicPr>
          <p:cNvPr id="32" name="Picture 31">
            <a:extLst>
              <a:ext uri="{FF2B5EF4-FFF2-40B4-BE49-F238E27FC236}">
                <a16:creationId xmlns:a16="http://schemas.microsoft.com/office/drawing/2014/main" id="{E9DFF73D-85A2-2E3A-3DB1-8E55F4D8404D}"/>
              </a:ext>
            </a:extLst>
          </p:cNvPr>
          <p:cNvPicPr>
            <a:picLocks noChangeAspect="1"/>
          </p:cNvPicPr>
          <p:nvPr/>
        </p:nvPicPr>
        <p:blipFill>
          <a:blip r:embed="rId2"/>
          <a:stretch>
            <a:fillRect/>
          </a:stretch>
        </p:blipFill>
        <p:spPr>
          <a:xfrm>
            <a:off x="5528134" y="112128"/>
            <a:ext cx="6309907" cy="617273"/>
          </a:xfrm>
          <a:prstGeom prst="rect">
            <a:avLst/>
          </a:prstGeom>
        </p:spPr>
      </p:pic>
      <p:pic>
        <p:nvPicPr>
          <p:cNvPr id="34" name="Picture 33">
            <a:extLst>
              <a:ext uri="{FF2B5EF4-FFF2-40B4-BE49-F238E27FC236}">
                <a16:creationId xmlns:a16="http://schemas.microsoft.com/office/drawing/2014/main" id="{E4DE406B-FED7-CF08-EB39-5A10EB72C774}"/>
              </a:ext>
            </a:extLst>
          </p:cNvPr>
          <p:cNvPicPr>
            <a:picLocks noChangeAspect="1"/>
          </p:cNvPicPr>
          <p:nvPr/>
        </p:nvPicPr>
        <p:blipFill>
          <a:blip r:embed="rId3"/>
          <a:stretch>
            <a:fillRect/>
          </a:stretch>
        </p:blipFill>
        <p:spPr>
          <a:xfrm>
            <a:off x="8534400" y="1084798"/>
            <a:ext cx="3543221" cy="4519052"/>
          </a:xfrm>
          <a:prstGeom prst="rect">
            <a:avLst/>
          </a:prstGeom>
        </p:spPr>
      </p:pic>
    </p:spTree>
    <p:extLst>
      <p:ext uri="{BB962C8B-B14F-4D97-AF65-F5344CB8AC3E}">
        <p14:creationId xmlns:p14="http://schemas.microsoft.com/office/powerpoint/2010/main" val="375250324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5438246-40EE-9AC4-D68E-7FF7A174504C}"/>
              </a:ext>
            </a:extLst>
          </p:cNvPr>
          <p:cNvSpPr txBox="1"/>
          <p:nvPr/>
        </p:nvSpPr>
        <p:spPr>
          <a:xfrm>
            <a:off x="3848997" y="-33741"/>
            <a:ext cx="3731674" cy="523220"/>
          </a:xfrm>
          <a:prstGeom prst="rect">
            <a:avLst/>
          </a:prstGeom>
          <a:noFill/>
          <a:ln>
            <a:noFill/>
          </a:ln>
        </p:spPr>
        <p:txBody>
          <a:bodyPr wrap="square" rtlCol="0">
            <a:spAutoFit/>
          </a:bodyPr>
          <a:lstStyle/>
          <a:p>
            <a:r>
              <a:rPr lang="en-US" sz="2800" b="1" dirty="0">
                <a:solidFill>
                  <a:schemeClr val="accent4"/>
                </a:solidFill>
                <a:latin typeface="Amasis MT Pro Black" panose="02040A04050005020304" pitchFamily="18" charset="0"/>
              </a:rPr>
              <a:t>Vehicle Dashboard </a:t>
            </a:r>
          </a:p>
        </p:txBody>
      </p:sp>
      <p:sp>
        <p:nvSpPr>
          <p:cNvPr id="8" name="TextBox 7">
            <a:extLst>
              <a:ext uri="{FF2B5EF4-FFF2-40B4-BE49-F238E27FC236}">
                <a16:creationId xmlns:a16="http://schemas.microsoft.com/office/drawing/2014/main" id="{2A19EC58-FE65-9B1E-C2C2-DA21C02C1055}"/>
              </a:ext>
            </a:extLst>
          </p:cNvPr>
          <p:cNvSpPr txBox="1"/>
          <p:nvPr/>
        </p:nvSpPr>
        <p:spPr>
          <a:xfrm>
            <a:off x="4888925" y="489479"/>
            <a:ext cx="825909" cy="523220"/>
          </a:xfrm>
          <a:prstGeom prst="rect">
            <a:avLst/>
          </a:prstGeom>
          <a:noFill/>
          <a:ln>
            <a:noFill/>
          </a:ln>
        </p:spPr>
        <p:txBody>
          <a:bodyPr wrap="square" rtlCol="0">
            <a:spAutoFit/>
          </a:bodyPr>
          <a:lstStyle/>
          <a:p>
            <a:r>
              <a:rPr lang="en-US" sz="2800" b="1" dirty="0">
                <a:solidFill>
                  <a:schemeClr val="accent5">
                    <a:lumMod val="75000"/>
                  </a:schemeClr>
                </a:solidFill>
                <a:latin typeface="Amasis MT Pro Black" panose="02040A04050005020304" pitchFamily="18" charset="0"/>
              </a:rPr>
              <a:t>KPI</a:t>
            </a:r>
          </a:p>
        </p:txBody>
      </p:sp>
      <p:sp>
        <p:nvSpPr>
          <p:cNvPr id="9" name="TextBox 8">
            <a:extLst>
              <a:ext uri="{FF2B5EF4-FFF2-40B4-BE49-F238E27FC236}">
                <a16:creationId xmlns:a16="http://schemas.microsoft.com/office/drawing/2014/main" id="{496A71DC-D756-622D-15EB-08435C5913BE}"/>
              </a:ext>
            </a:extLst>
          </p:cNvPr>
          <p:cNvSpPr txBox="1"/>
          <p:nvPr/>
        </p:nvSpPr>
        <p:spPr>
          <a:xfrm>
            <a:off x="0" y="1867641"/>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Completed Bookings</a:t>
            </a:r>
          </a:p>
        </p:txBody>
      </p:sp>
      <p:sp>
        <p:nvSpPr>
          <p:cNvPr id="10" name="TextBox 9">
            <a:extLst>
              <a:ext uri="{FF2B5EF4-FFF2-40B4-BE49-F238E27FC236}">
                <a16:creationId xmlns:a16="http://schemas.microsoft.com/office/drawing/2014/main" id="{1211E1F6-AF82-6A80-2961-9C0D8C973512}"/>
              </a:ext>
            </a:extLst>
          </p:cNvPr>
          <p:cNvSpPr txBox="1"/>
          <p:nvPr/>
        </p:nvSpPr>
        <p:spPr>
          <a:xfrm>
            <a:off x="181896" y="2117705"/>
            <a:ext cx="854915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Total 23K bookings successfully completed, showing strong service usage and demand.</a:t>
            </a:r>
          </a:p>
        </p:txBody>
      </p:sp>
      <p:pic>
        <p:nvPicPr>
          <p:cNvPr id="12" name="Picture 11">
            <a:extLst>
              <a:ext uri="{FF2B5EF4-FFF2-40B4-BE49-F238E27FC236}">
                <a16:creationId xmlns:a16="http://schemas.microsoft.com/office/drawing/2014/main" id="{353F1C2C-469C-F33A-C2E9-5894E130AD3A}"/>
              </a:ext>
            </a:extLst>
          </p:cNvPr>
          <p:cNvPicPr>
            <a:picLocks noChangeAspect="1"/>
          </p:cNvPicPr>
          <p:nvPr/>
        </p:nvPicPr>
        <p:blipFill>
          <a:blip r:embed="rId2"/>
          <a:stretch>
            <a:fillRect/>
          </a:stretch>
        </p:blipFill>
        <p:spPr>
          <a:xfrm>
            <a:off x="1524000" y="918646"/>
            <a:ext cx="7600335" cy="792167"/>
          </a:xfrm>
          <a:prstGeom prst="rect">
            <a:avLst/>
          </a:prstGeom>
        </p:spPr>
      </p:pic>
      <p:sp>
        <p:nvSpPr>
          <p:cNvPr id="13" name="TextBox 12">
            <a:extLst>
              <a:ext uri="{FF2B5EF4-FFF2-40B4-BE49-F238E27FC236}">
                <a16:creationId xmlns:a16="http://schemas.microsoft.com/office/drawing/2014/main" id="{1A9BEDCF-E4EA-454D-55FC-23EEC6EA5CD0}"/>
              </a:ext>
            </a:extLst>
          </p:cNvPr>
          <p:cNvSpPr txBox="1"/>
          <p:nvPr/>
        </p:nvSpPr>
        <p:spPr>
          <a:xfrm>
            <a:off x="-1" y="2737101"/>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Lost Bookings</a:t>
            </a:r>
          </a:p>
        </p:txBody>
      </p:sp>
      <p:sp>
        <p:nvSpPr>
          <p:cNvPr id="14" name="TextBox 13">
            <a:extLst>
              <a:ext uri="{FF2B5EF4-FFF2-40B4-BE49-F238E27FC236}">
                <a16:creationId xmlns:a16="http://schemas.microsoft.com/office/drawing/2014/main" id="{6173E35C-0B2E-BB89-D632-1F7278438131}"/>
              </a:ext>
            </a:extLst>
          </p:cNvPr>
          <p:cNvSpPr txBox="1"/>
          <p:nvPr/>
        </p:nvSpPr>
        <p:spPr>
          <a:xfrm>
            <a:off x="280218" y="2906378"/>
            <a:ext cx="854915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14K bookings were lost, indicating opportunities to improve availability and conversion.</a:t>
            </a:r>
          </a:p>
        </p:txBody>
      </p:sp>
      <p:sp>
        <p:nvSpPr>
          <p:cNvPr id="15" name="TextBox 14">
            <a:extLst>
              <a:ext uri="{FF2B5EF4-FFF2-40B4-BE49-F238E27FC236}">
                <a16:creationId xmlns:a16="http://schemas.microsoft.com/office/drawing/2014/main" id="{85A5055A-47A1-457C-B1A2-61D566689019}"/>
              </a:ext>
            </a:extLst>
          </p:cNvPr>
          <p:cNvSpPr txBox="1"/>
          <p:nvPr/>
        </p:nvSpPr>
        <p:spPr>
          <a:xfrm>
            <a:off x="-2" y="3525774"/>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Revenue</a:t>
            </a:r>
          </a:p>
        </p:txBody>
      </p:sp>
      <p:sp>
        <p:nvSpPr>
          <p:cNvPr id="16" name="TextBox 15">
            <a:extLst>
              <a:ext uri="{FF2B5EF4-FFF2-40B4-BE49-F238E27FC236}">
                <a16:creationId xmlns:a16="http://schemas.microsoft.com/office/drawing/2014/main" id="{9B48366D-7074-D34E-E4AB-DCF5B1EA24C9}"/>
              </a:ext>
            </a:extLst>
          </p:cNvPr>
          <p:cNvSpPr txBox="1"/>
          <p:nvPr/>
        </p:nvSpPr>
        <p:spPr>
          <a:xfrm>
            <a:off x="280218" y="3695051"/>
            <a:ext cx="854915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The platform generated 13M total revenue, reflecting overall business performance.</a:t>
            </a:r>
          </a:p>
        </p:txBody>
      </p:sp>
      <p:sp>
        <p:nvSpPr>
          <p:cNvPr id="17" name="TextBox 16">
            <a:extLst>
              <a:ext uri="{FF2B5EF4-FFF2-40B4-BE49-F238E27FC236}">
                <a16:creationId xmlns:a16="http://schemas.microsoft.com/office/drawing/2014/main" id="{B91B7BBB-A1D5-6B4B-981A-CC7BF233C3EA}"/>
              </a:ext>
            </a:extLst>
          </p:cNvPr>
          <p:cNvSpPr txBox="1"/>
          <p:nvPr/>
        </p:nvSpPr>
        <p:spPr>
          <a:xfrm>
            <a:off x="0" y="4318180"/>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Total Distance</a:t>
            </a:r>
          </a:p>
        </p:txBody>
      </p:sp>
      <p:sp>
        <p:nvSpPr>
          <p:cNvPr id="18" name="TextBox 17">
            <a:extLst>
              <a:ext uri="{FF2B5EF4-FFF2-40B4-BE49-F238E27FC236}">
                <a16:creationId xmlns:a16="http://schemas.microsoft.com/office/drawing/2014/main" id="{AA0B72B1-84FC-D0C8-DCCA-F69FB3A9D242}"/>
              </a:ext>
            </a:extLst>
          </p:cNvPr>
          <p:cNvSpPr txBox="1"/>
          <p:nvPr/>
        </p:nvSpPr>
        <p:spPr>
          <a:xfrm>
            <a:off x="250721" y="4630970"/>
            <a:ext cx="8549150" cy="400110"/>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Vehicles covered 625.62K km, showing high operational activity.</a:t>
            </a:r>
          </a:p>
        </p:txBody>
      </p:sp>
      <p:sp>
        <p:nvSpPr>
          <p:cNvPr id="19" name="TextBox 18">
            <a:extLst>
              <a:ext uri="{FF2B5EF4-FFF2-40B4-BE49-F238E27FC236}">
                <a16:creationId xmlns:a16="http://schemas.microsoft.com/office/drawing/2014/main" id="{0F8CBFEC-319E-94DE-8C14-87AA6E59F015}"/>
              </a:ext>
            </a:extLst>
          </p:cNvPr>
          <p:cNvSpPr txBox="1"/>
          <p:nvPr/>
        </p:nvSpPr>
        <p:spPr>
          <a:xfrm>
            <a:off x="0" y="5026066"/>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Average Distance</a:t>
            </a:r>
          </a:p>
        </p:txBody>
      </p:sp>
      <p:sp>
        <p:nvSpPr>
          <p:cNvPr id="20" name="TextBox 19">
            <a:extLst>
              <a:ext uri="{FF2B5EF4-FFF2-40B4-BE49-F238E27FC236}">
                <a16:creationId xmlns:a16="http://schemas.microsoft.com/office/drawing/2014/main" id="{A935B87D-82AC-A99E-583A-542946FF4034}"/>
              </a:ext>
            </a:extLst>
          </p:cNvPr>
          <p:cNvSpPr txBox="1"/>
          <p:nvPr/>
        </p:nvSpPr>
        <p:spPr>
          <a:xfrm>
            <a:off x="280218" y="5279863"/>
            <a:ext cx="8549150" cy="400110"/>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Average trip distance is 24.62 km, indicating medium to long trips.</a:t>
            </a:r>
          </a:p>
        </p:txBody>
      </p:sp>
    </p:spTree>
    <p:extLst>
      <p:ext uri="{BB962C8B-B14F-4D97-AF65-F5344CB8AC3E}">
        <p14:creationId xmlns:p14="http://schemas.microsoft.com/office/powerpoint/2010/main" val="1513403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D550BE5-8DBE-6E38-96B9-171EE7C25882}"/>
              </a:ext>
            </a:extLst>
          </p:cNvPr>
          <p:cNvSpPr txBox="1"/>
          <p:nvPr/>
        </p:nvSpPr>
        <p:spPr>
          <a:xfrm>
            <a:off x="3848997" y="-33741"/>
            <a:ext cx="3731674" cy="523220"/>
          </a:xfrm>
          <a:prstGeom prst="rect">
            <a:avLst/>
          </a:prstGeom>
          <a:noFill/>
          <a:ln>
            <a:noFill/>
          </a:ln>
        </p:spPr>
        <p:txBody>
          <a:bodyPr wrap="square" rtlCol="0">
            <a:spAutoFit/>
          </a:bodyPr>
          <a:lstStyle/>
          <a:p>
            <a:r>
              <a:rPr lang="en-US" sz="2800" b="1" dirty="0">
                <a:solidFill>
                  <a:schemeClr val="accent4"/>
                </a:solidFill>
                <a:latin typeface="Amasis MT Pro Black" panose="02040A04050005020304" pitchFamily="18" charset="0"/>
              </a:rPr>
              <a:t>Vehicle Dashboard </a:t>
            </a:r>
          </a:p>
        </p:txBody>
      </p:sp>
      <p:sp>
        <p:nvSpPr>
          <p:cNvPr id="7" name="TextBox 6">
            <a:extLst>
              <a:ext uri="{FF2B5EF4-FFF2-40B4-BE49-F238E27FC236}">
                <a16:creationId xmlns:a16="http://schemas.microsoft.com/office/drawing/2014/main" id="{3F86BD88-8F66-198D-0643-334ED85DCD85}"/>
              </a:ext>
            </a:extLst>
          </p:cNvPr>
          <p:cNvSpPr txBox="1"/>
          <p:nvPr/>
        </p:nvSpPr>
        <p:spPr>
          <a:xfrm>
            <a:off x="5004224" y="481342"/>
            <a:ext cx="1577445" cy="461665"/>
          </a:xfrm>
          <a:prstGeom prst="rect">
            <a:avLst/>
          </a:prstGeom>
          <a:noFill/>
          <a:ln>
            <a:noFill/>
          </a:ln>
        </p:spPr>
        <p:txBody>
          <a:bodyPr wrap="square" rtlCol="0">
            <a:spAutoFit/>
          </a:bodyPr>
          <a:lstStyle/>
          <a:p>
            <a:r>
              <a:rPr lang="en-US" sz="2400" b="1" dirty="0">
                <a:solidFill>
                  <a:schemeClr val="accent5">
                    <a:lumMod val="75000"/>
                  </a:schemeClr>
                </a:solidFill>
                <a:latin typeface="Amasis MT Pro Black" panose="02040A04050005020304" pitchFamily="18" charset="0"/>
              </a:rPr>
              <a:t>Charts</a:t>
            </a:r>
          </a:p>
        </p:txBody>
      </p:sp>
      <p:sp>
        <p:nvSpPr>
          <p:cNvPr id="9" name="TextBox 8">
            <a:extLst>
              <a:ext uri="{FF2B5EF4-FFF2-40B4-BE49-F238E27FC236}">
                <a16:creationId xmlns:a16="http://schemas.microsoft.com/office/drawing/2014/main" id="{635B38D8-05FE-D411-B7AE-5CA3C8EEA2EE}"/>
              </a:ext>
            </a:extLst>
          </p:cNvPr>
          <p:cNvSpPr txBox="1"/>
          <p:nvPr/>
        </p:nvSpPr>
        <p:spPr>
          <a:xfrm>
            <a:off x="0" y="1083870"/>
            <a:ext cx="3014505"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Booking Value (Revenue)</a:t>
            </a:r>
          </a:p>
        </p:txBody>
      </p:sp>
      <p:sp>
        <p:nvSpPr>
          <p:cNvPr id="10" name="TextBox 9">
            <a:extLst>
              <a:ext uri="{FF2B5EF4-FFF2-40B4-BE49-F238E27FC236}">
                <a16:creationId xmlns:a16="http://schemas.microsoft.com/office/drawing/2014/main" id="{1AB095AE-E4AD-5B99-A6BF-5BC64F3E5FBE}"/>
              </a:ext>
            </a:extLst>
          </p:cNvPr>
          <p:cNvSpPr txBox="1"/>
          <p:nvPr/>
        </p:nvSpPr>
        <p:spPr>
          <a:xfrm>
            <a:off x="131654" y="1258753"/>
            <a:ext cx="4872570" cy="1077218"/>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Auto has the highest booking value, making it the top revenue contributor . Go Mini and Bike also generate strong revenue . Premier Sedan has moderate revenue . Uber XL generates the lowest booking value.</a:t>
            </a:r>
          </a:p>
        </p:txBody>
      </p:sp>
      <p:sp>
        <p:nvSpPr>
          <p:cNvPr id="11" name="TextBox 10">
            <a:extLst>
              <a:ext uri="{FF2B5EF4-FFF2-40B4-BE49-F238E27FC236}">
                <a16:creationId xmlns:a16="http://schemas.microsoft.com/office/drawing/2014/main" id="{C1CEACF0-0945-75D6-9418-F45206A88048}"/>
              </a:ext>
            </a:extLst>
          </p:cNvPr>
          <p:cNvSpPr txBox="1"/>
          <p:nvPr/>
        </p:nvSpPr>
        <p:spPr>
          <a:xfrm>
            <a:off x="-1" y="2482440"/>
            <a:ext cx="3687746"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Completed Bookings By Vehicle</a:t>
            </a:r>
          </a:p>
        </p:txBody>
      </p:sp>
      <p:sp>
        <p:nvSpPr>
          <p:cNvPr id="12" name="TextBox 11">
            <a:extLst>
              <a:ext uri="{FF2B5EF4-FFF2-40B4-BE49-F238E27FC236}">
                <a16:creationId xmlns:a16="http://schemas.microsoft.com/office/drawing/2014/main" id="{07830A90-4ACF-EDBA-1E08-6E9993202F0A}"/>
              </a:ext>
            </a:extLst>
          </p:cNvPr>
          <p:cNvSpPr txBox="1"/>
          <p:nvPr/>
        </p:nvSpPr>
        <p:spPr>
          <a:xfrm>
            <a:off x="131654" y="2740251"/>
            <a:ext cx="4872570" cy="1077218"/>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Auto has the highest number of completed bookings . Go Mini and Bike show good booking completion . Go Sedan and Premier Sedan have moderate completed bookings . Uber XL has the least completed bookings.</a:t>
            </a:r>
          </a:p>
        </p:txBody>
      </p:sp>
      <p:sp>
        <p:nvSpPr>
          <p:cNvPr id="14" name="TextBox 13">
            <a:extLst>
              <a:ext uri="{FF2B5EF4-FFF2-40B4-BE49-F238E27FC236}">
                <a16:creationId xmlns:a16="http://schemas.microsoft.com/office/drawing/2014/main" id="{C7DA3ABA-9271-9F9C-081F-42A67151DE42}"/>
              </a:ext>
            </a:extLst>
          </p:cNvPr>
          <p:cNvSpPr txBox="1"/>
          <p:nvPr/>
        </p:nvSpPr>
        <p:spPr>
          <a:xfrm>
            <a:off x="5792946" y="880270"/>
            <a:ext cx="3014505"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Lost Bookings By Vehicle</a:t>
            </a:r>
          </a:p>
        </p:txBody>
      </p:sp>
      <p:sp>
        <p:nvSpPr>
          <p:cNvPr id="15" name="TextBox 14">
            <a:extLst>
              <a:ext uri="{FF2B5EF4-FFF2-40B4-BE49-F238E27FC236}">
                <a16:creationId xmlns:a16="http://schemas.microsoft.com/office/drawing/2014/main" id="{63F2CFEE-2208-8518-7272-0EEC9D5F06E0}"/>
              </a:ext>
            </a:extLst>
          </p:cNvPr>
          <p:cNvSpPr txBox="1"/>
          <p:nvPr/>
        </p:nvSpPr>
        <p:spPr>
          <a:xfrm>
            <a:off x="5714834" y="1063943"/>
            <a:ext cx="4872570" cy="1323439"/>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Auto also shows higher lost bookings due to high demand . Go Mini and Go Sedan have moderate lost bookings . Bike has comparatively fewer lost bookings . Uber XL has the lowest lost bookings because of low demand.</a:t>
            </a:r>
          </a:p>
        </p:txBody>
      </p:sp>
      <p:sp>
        <p:nvSpPr>
          <p:cNvPr id="16" name="TextBox 15">
            <a:extLst>
              <a:ext uri="{FF2B5EF4-FFF2-40B4-BE49-F238E27FC236}">
                <a16:creationId xmlns:a16="http://schemas.microsoft.com/office/drawing/2014/main" id="{314AD41C-1645-F782-3F47-7E6ABE69543B}"/>
              </a:ext>
            </a:extLst>
          </p:cNvPr>
          <p:cNvSpPr txBox="1"/>
          <p:nvPr/>
        </p:nvSpPr>
        <p:spPr>
          <a:xfrm>
            <a:off x="5934404" y="2335971"/>
            <a:ext cx="3540298"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Average Distance By Vehicle</a:t>
            </a:r>
          </a:p>
        </p:txBody>
      </p:sp>
      <p:sp>
        <p:nvSpPr>
          <p:cNvPr id="17" name="TextBox 16">
            <a:extLst>
              <a:ext uri="{FF2B5EF4-FFF2-40B4-BE49-F238E27FC236}">
                <a16:creationId xmlns:a16="http://schemas.microsoft.com/office/drawing/2014/main" id="{A739BD54-07A4-12EA-00AD-89D2B8123B7C}"/>
              </a:ext>
            </a:extLst>
          </p:cNvPr>
          <p:cNvSpPr txBox="1"/>
          <p:nvPr/>
        </p:nvSpPr>
        <p:spPr>
          <a:xfrm>
            <a:off x="5792946" y="2542849"/>
            <a:ext cx="4872570" cy="1077218"/>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Average trip distance is almost same (~24–25 km) across all vehicle types . Bike and Auto show slightly higher average distance . Uber XL has the lowest average distance</a:t>
            </a:r>
          </a:p>
        </p:txBody>
      </p:sp>
      <p:pic>
        <p:nvPicPr>
          <p:cNvPr id="19" name="Picture 18">
            <a:extLst>
              <a:ext uri="{FF2B5EF4-FFF2-40B4-BE49-F238E27FC236}">
                <a16:creationId xmlns:a16="http://schemas.microsoft.com/office/drawing/2014/main" id="{BE27E448-4982-2D72-9AD6-CBA69D2A2347}"/>
              </a:ext>
            </a:extLst>
          </p:cNvPr>
          <p:cNvPicPr>
            <a:picLocks noChangeAspect="1"/>
          </p:cNvPicPr>
          <p:nvPr/>
        </p:nvPicPr>
        <p:blipFill>
          <a:blip r:embed="rId2"/>
          <a:stretch>
            <a:fillRect/>
          </a:stretch>
        </p:blipFill>
        <p:spPr>
          <a:xfrm>
            <a:off x="2351314" y="3824130"/>
            <a:ext cx="7686989" cy="2958507"/>
          </a:xfrm>
          <a:prstGeom prst="rect">
            <a:avLst/>
          </a:prstGeom>
        </p:spPr>
      </p:pic>
    </p:spTree>
    <p:extLst>
      <p:ext uri="{BB962C8B-B14F-4D97-AF65-F5344CB8AC3E}">
        <p14:creationId xmlns:p14="http://schemas.microsoft.com/office/powerpoint/2010/main" val="412070736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AC8484-EE92-468E-9F07-701334C89B39}"/>
              </a:ext>
            </a:extLst>
          </p:cNvPr>
          <p:cNvSpPr txBox="1"/>
          <p:nvPr/>
        </p:nvSpPr>
        <p:spPr>
          <a:xfrm>
            <a:off x="3848997" y="-33741"/>
            <a:ext cx="4793558" cy="523220"/>
          </a:xfrm>
          <a:prstGeom prst="rect">
            <a:avLst/>
          </a:prstGeom>
          <a:noFill/>
          <a:ln>
            <a:noFill/>
          </a:ln>
        </p:spPr>
        <p:txBody>
          <a:bodyPr wrap="square" rtlCol="0">
            <a:spAutoFit/>
          </a:bodyPr>
          <a:lstStyle/>
          <a:p>
            <a:r>
              <a:rPr lang="en-US" sz="2800" b="1" dirty="0">
                <a:solidFill>
                  <a:schemeClr val="accent4"/>
                </a:solidFill>
                <a:latin typeface="Amasis MT Pro Black" panose="02040A04050005020304" pitchFamily="18" charset="0"/>
              </a:rPr>
              <a:t>Revenue Dashboard </a:t>
            </a:r>
          </a:p>
        </p:txBody>
      </p:sp>
      <p:sp>
        <p:nvSpPr>
          <p:cNvPr id="8" name="TextBox 7">
            <a:extLst>
              <a:ext uri="{FF2B5EF4-FFF2-40B4-BE49-F238E27FC236}">
                <a16:creationId xmlns:a16="http://schemas.microsoft.com/office/drawing/2014/main" id="{87A85014-CCBF-ABCD-BA7D-7B5D33792E34}"/>
              </a:ext>
            </a:extLst>
          </p:cNvPr>
          <p:cNvSpPr txBox="1"/>
          <p:nvPr/>
        </p:nvSpPr>
        <p:spPr>
          <a:xfrm>
            <a:off x="5004224" y="353523"/>
            <a:ext cx="1577445" cy="461665"/>
          </a:xfrm>
          <a:prstGeom prst="rect">
            <a:avLst/>
          </a:prstGeom>
          <a:noFill/>
          <a:ln>
            <a:noFill/>
          </a:ln>
        </p:spPr>
        <p:txBody>
          <a:bodyPr wrap="square" rtlCol="0">
            <a:spAutoFit/>
          </a:bodyPr>
          <a:lstStyle/>
          <a:p>
            <a:r>
              <a:rPr lang="en-US" sz="2400" b="1" dirty="0">
                <a:solidFill>
                  <a:schemeClr val="accent5">
                    <a:lumMod val="75000"/>
                  </a:schemeClr>
                </a:solidFill>
                <a:latin typeface="Amasis MT Pro Black" panose="02040A04050005020304" pitchFamily="18" charset="0"/>
              </a:rPr>
              <a:t>Charts</a:t>
            </a:r>
          </a:p>
        </p:txBody>
      </p:sp>
      <p:sp>
        <p:nvSpPr>
          <p:cNvPr id="11" name="TextBox 10">
            <a:extLst>
              <a:ext uri="{FF2B5EF4-FFF2-40B4-BE49-F238E27FC236}">
                <a16:creationId xmlns:a16="http://schemas.microsoft.com/office/drawing/2014/main" id="{43AAB7FC-5651-BEF1-F7FF-3C9D4204FD76}"/>
              </a:ext>
            </a:extLst>
          </p:cNvPr>
          <p:cNvSpPr txBox="1"/>
          <p:nvPr/>
        </p:nvSpPr>
        <p:spPr>
          <a:xfrm>
            <a:off x="0" y="815188"/>
            <a:ext cx="3687746"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Completed Bookings by Month</a:t>
            </a:r>
          </a:p>
        </p:txBody>
      </p:sp>
      <p:sp>
        <p:nvSpPr>
          <p:cNvPr id="12" name="TextBox 11">
            <a:extLst>
              <a:ext uri="{FF2B5EF4-FFF2-40B4-BE49-F238E27FC236}">
                <a16:creationId xmlns:a16="http://schemas.microsoft.com/office/drawing/2014/main" id="{6121EC0A-673C-474D-EA1F-49B7E53527DC}"/>
              </a:ext>
            </a:extLst>
          </p:cNvPr>
          <p:cNvSpPr txBox="1"/>
          <p:nvPr/>
        </p:nvSpPr>
        <p:spPr>
          <a:xfrm>
            <a:off x="131654" y="2247113"/>
            <a:ext cx="4872570" cy="830997"/>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91.37% revenue comes from completed bookings . Only 8.63% revenue is from incomplete bookings, showing high completion efficiency.</a:t>
            </a:r>
          </a:p>
        </p:txBody>
      </p:sp>
      <p:sp>
        <p:nvSpPr>
          <p:cNvPr id="13" name="TextBox 12">
            <a:extLst>
              <a:ext uri="{FF2B5EF4-FFF2-40B4-BE49-F238E27FC236}">
                <a16:creationId xmlns:a16="http://schemas.microsoft.com/office/drawing/2014/main" id="{8FB6F807-3C27-F3E3-1BCA-A81C63963BB4}"/>
              </a:ext>
            </a:extLst>
          </p:cNvPr>
          <p:cNvSpPr txBox="1"/>
          <p:nvPr/>
        </p:nvSpPr>
        <p:spPr>
          <a:xfrm>
            <a:off x="6096000" y="815188"/>
            <a:ext cx="3687746"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Completed Bookings by Quarter</a:t>
            </a:r>
          </a:p>
        </p:txBody>
      </p:sp>
      <p:sp>
        <p:nvSpPr>
          <p:cNvPr id="14" name="TextBox 13">
            <a:extLst>
              <a:ext uri="{FF2B5EF4-FFF2-40B4-BE49-F238E27FC236}">
                <a16:creationId xmlns:a16="http://schemas.microsoft.com/office/drawing/2014/main" id="{BE459A64-39E7-4106-B7E8-BD8D19075EBE}"/>
              </a:ext>
            </a:extLst>
          </p:cNvPr>
          <p:cNvSpPr txBox="1"/>
          <p:nvPr/>
        </p:nvSpPr>
        <p:spPr>
          <a:xfrm>
            <a:off x="6206270" y="1115651"/>
            <a:ext cx="4872570" cy="584775"/>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Bookings are lowest in Q2 .Q3 shows the highest completed bookings . Slight decline observed in Q4.</a:t>
            </a:r>
          </a:p>
        </p:txBody>
      </p:sp>
      <p:sp>
        <p:nvSpPr>
          <p:cNvPr id="15" name="TextBox 14">
            <a:extLst>
              <a:ext uri="{FF2B5EF4-FFF2-40B4-BE49-F238E27FC236}">
                <a16:creationId xmlns:a16="http://schemas.microsoft.com/office/drawing/2014/main" id="{65EC99E3-87D8-70E9-822E-5091A50BAC29}"/>
              </a:ext>
            </a:extLst>
          </p:cNvPr>
          <p:cNvSpPr txBox="1"/>
          <p:nvPr/>
        </p:nvSpPr>
        <p:spPr>
          <a:xfrm>
            <a:off x="73628" y="1946649"/>
            <a:ext cx="3687746"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Revenue by Booking Status</a:t>
            </a:r>
          </a:p>
        </p:txBody>
      </p:sp>
      <p:sp>
        <p:nvSpPr>
          <p:cNvPr id="16" name="TextBox 15">
            <a:extLst>
              <a:ext uri="{FF2B5EF4-FFF2-40B4-BE49-F238E27FC236}">
                <a16:creationId xmlns:a16="http://schemas.microsoft.com/office/drawing/2014/main" id="{821DF906-6B71-CE54-3E12-706FF8F2A7BC}"/>
              </a:ext>
            </a:extLst>
          </p:cNvPr>
          <p:cNvSpPr txBox="1"/>
          <p:nvPr/>
        </p:nvSpPr>
        <p:spPr>
          <a:xfrm>
            <a:off x="131654" y="1134697"/>
            <a:ext cx="4872570" cy="830997"/>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Bookings are high in January, drop in February . Peak completed bookings observed in mid-year months (May–July).</a:t>
            </a:r>
          </a:p>
        </p:txBody>
      </p:sp>
      <p:sp>
        <p:nvSpPr>
          <p:cNvPr id="17" name="TextBox 16">
            <a:extLst>
              <a:ext uri="{FF2B5EF4-FFF2-40B4-BE49-F238E27FC236}">
                <a16:creationId xmlns:a16="http://schemas.microsoft.com/office/drawing/2014/main" id="{4B844DBE-B194-28E1-2D0E-644D786FBFE5}"/>
              </a:ext>
            </a:extLst>
          </p:cNvPr>
          <p:cNvSpPr txBox="1"/>
          <p:nvPr/>
        </p:nvSpPr>
        <p:spPr>
          <a:xfrm>
            <a:off x="6245776" y="1831612"/>
            <a:ext cx="3687746"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Revenue by Vehicle</a:t>
            </a:r>
          </a:p>
        </p:txBody>
      </p:sp>
      <p:sp>
        <p:nvSpPr>
          <p:cNvPr id="18" name="TextBox 17">
            <a:extLst>
              <a:ext uri="{FF2B5EF4-FFF2-40B4-BE49-F238E27FC236}">
                <a16:creationId xmlns:a16="http://schemas.microsoft.com/office/drawing/2014/main" id="{2F1A29AD-92CE-862C-88C0-361E43B14BE5}"/>
              </a:ext>
            </a:extLst>
          </p:cNvPr>
          <p:cNvSpPr txBox="1"/>
          <p:nvPr/>
        </p:nvSpPr>
        <p:spPr>
          <a:xfrm>
            <a:off x="6206270" y="2170166"/>
            <a:ext cx="4872570" cy="830997"/>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Revenue contribution is almost evenly distributed across vehicles . Each vehicle generates around 46K–47K revenue.</a:t>
            </a:r>
          </a:p>
        </p:txBody>
      </p:sp>
      <p:pic>
        <p:nvPicPr>
          <p:cNvPr id="20" name="Picture 19">
            <a:extLst>
              <a:ext uri="{FF2B5EF4-FFF2-40B4-BE49-F238E27FC236}">
                <a16:creationId xmlns:a16="http://schemas.microsoft.com/office/drawing/2014/main" id="{AB2EB49C-2AB0-E12C-1F97-D256162CBE79}"/>
              </a:ext>
            </a:extLst>
          </p:cNvPr>
          <p:cNvPicPr>
            <a:picLocks noChangeAspect="1"/>
          </p:cNvPicPr>
          <p:nvPr/>
        </p:nvPicPr>
        <p:blipFill>
          <a:blip r:embed="rId2"/>
          <a:stretch>
            <a:fillRect/>
          </a:stretch>
        </p:blipFill>
        <p:spPr>
          <a:xfrm>
            <a:off x="2560398" y="3282582"/>
            <a:ext cx="7373123" cy="2970734"/>
          </a:xfrm>
          <a:prstGeom prst="rect">
            <a:avLst/>
          </a:prstGeom>
        </p:spPr>
      </p:pic>
    </p:spTree>
    <p:extLst>
      <p:ext uri="{BB962C8B-B14F-4D97-AF65-F5344CB8AC3E}">
        <p14:creationId xmlns:p14="http://schemas.microsoft.com/office/powerpoint/2010/main" val="227025656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6857D-DEEA-83FA-B850-FAB44290E09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4D746B3-4514-C8DD-539E-CBC7197B2A85}"/>
              </a:ext>
            </a:extLst>
          </p:cNvPr>
          <p:cNvSpPr txBox="1"/>
          <p:nvPr/>
        </p:nvSpPr>
        <p:spPr>
          <a:xfrm>
            <a:off x="3848997" y="-33741"/>
            <a:ext cx="4793558" cy="523220"/>
          </a:xfrm>
          <a:prstGeom prst="rect">
            <a:avLst/>
          </a:prstGeom>
          <a:noFill/>
          <a:ln>
            <a:noFill/>
          </a:ln>
        </p:spPr>
        <p:txBody>
          <a:bodyPr wrap="square" rtlCol="0">
            <a:spAutoFit/>
          </a:bodyPr>
          <a:lstStyle/>
          <a:p>
            <a:r>
              <a:rPr lang="en-US" sz="2800" b="1" dirty="0">
                <a:solidFill>
                  <a:schemeClr val="accent4"/>
                </a:solidFill>
                <a:latin typeface="Amasis MT Pro Black" panose="02040A04050005020304" pitchFamily="18" charset="0"/>
              </a:rPr>
              <a:t>Revenue Dashboard </a:t>
            </a:r>
          </a:p>
        </p:txBody>
      </p:sp>
      <p:sp>
        <p:nvSpPr>
          <p:cNvPr id="8" name="TextBox 7">
            <a:extLst>
              <a:ext uri="{FF2B5EF4-FFF2-40B4-BE49-F238E27FC236}">
                <a16:creationId xmlns:a16="http://schemas.microsoft.com/office/drawing/2014/main" id="{7F8A30F1-621B-C017-42D5-6F098163F6CA}"/>
              </a:ext>
            </a:extLst>
          </p:cNvPr>
          <p:cNvSpPr txBox="1"/>
          <p:nvPr/>
        </p:nvSpPr>
        <p:spPr>
          <a:xfrm>
            <a:off x="5004224" y="353523"/>
            <a:ext cx="1577445" cy="461665"/>
          </a:xfrm>
          <a:prstGeom prst="rect">
            <a:avLst/>
          </a:prstGeom>
          <a:noFill/>
          <a:ln>
            <a:noFill/>
          </a:ln>
        </p:spPr>
        <p:txBody>
          <a:bodyPr wrap="square" rtlCol="0">
            <a:spAutoFit/>
          </a:bodyPr>
          <a:lstStyle/>
          <a:p>
            <a:r>
              <a:rPr lang="en-US" sz="2400" b="1" dirty="0">
                <a:solidFill>
                  <a:schemeClr val="accent5">
                    <a:lumMod val="75000"/>
                  </a:schemeClr>
                </a:solidFill>
                <a:latin typeface="Amasis MT Pro Black" panose="02040A04050005020304" pitchFamily="18" charset="0"/>
              </a:rPr>
              <a:t>Charts</a:t>
            </a:r>
          </a:p>
        </p:txBody>
      </p:sp>
      <p:sp>
        <p:nvSpPr>
          <p:cNvPr id="11" name="TextBox 10">
            <a:extLst>
              <a:ext uri="{FF2B5EF4-FFF2-40B4-BE49-F238E27FC236}">
                <a16:creationId xmlns:a16="http://schemas.microsoft.com/office/drawing/2014/main" id="{84D45515-4D9A-2687-EC0C-3985AF17994E}"/>
              </a:ext>
            </a:extLst>
          </p:cNvPr>
          <p:cNvSpPr txBox="1"/>
          <p:nvPr/>
        </p:nvSpPr>
        <p:spPr>
          <a:xfrm>
            <a:off x="0" y="815188"/>
            <a:ext cx="3687746"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Revenue by Payment Method</a:t>
            </a:r>
          </a:p>
        </p:txBody>
      </p:sp>
      <p:sp>
        <p:nvSpPr>
          <p:cNvPr id="12" name="TextBox 11">
            <a:extLst>
              <a:ext uri="{FF2B5EF4-FFF2-40B4-BE49-F238E27FC236}">
                <a16:creationId xmlns:a16="http://schemas.microsoft.com/office/drawing/2014/main" id="{482BFBC9-CB9B-969C-66EB-93F1F27B828A}"/>
              </a:ext>
            </a:extLst>
          </p:cNvPr>
          <p:cNvSpPr txBox="1"/>
          <p:nvPr/>
        </p:nvSpPr>
        <p:spPr>
          <a:xfrm>
            <a:off x="131654" y="2247113"/>
            <a:ext cx="4872570" cy="830997"/>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Top customers contribute around 3.8K–4.0K revenue each . Revenue is well distributed, not dependent on one customer.</a:t>
            </a:r>
          </a:p>
        </p:txBody>
      </p:sp>
      <p:sp>
        <p:nvSpPr>
          <p:cNvPr id="13" name="TextBox 12">
            <a:extLst>
              <a:ext uri="{FF2B5EF4-FFF2-40B4-BE49-F238E27FC236}">
                <a16:creationId xmlns:a16="http://schemas.microsoft.com/office/drawing/2014/main" id="{126B23B1-A355-D037-ACB7-C32553771C4D}"/>
              </a:ext>
            </a:extLst>
          </p:cNvPr>
          <p:cNvSpPr txBox="1"/>
          <p:nvPr/>
        </p:nvSpPr>
        <p:spPr>
          <a:xfrm>
            <a:off x="6096000" y="815188"/>
            <a:ext cx="3687746"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Revenue by Location</a:t>
            </a:r>
          </a:p>
        </p:txBody>
      </p:sp>
      <p:sp>
        <p:nvSpPr>
          <p:cNvPr id="14" name="TextBox 13">
            <a:extLst>
              <a:ext uri="{FF2B5EF4-FFF2-40B4-BE49-F238E27FC236}">
                <a16:creationId xmlns:a16="http://schemas.microsoft.com/office/drawing/2014/main" id="{FC7D7181-70E0-B013-4151-6817806D2D55}"/>
              </a:ext>
            </a:extLst>
          </p:cNvPr>
          <p:cNvSpPr txBox="1"/>
          <p:nvPr/>
        </p:nvSpPr>
        <p:spPr>
          <a:xfrm>
            <a:off x="6206270" y="1115651"/>
            <a:ext cx="4872570" cy="584775"/>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Revenue is evenly distributed across all </a:t>
            </a:r>
            <a:r>
              <a:rPr lang="en-US" sz="1600" b="1" dirty="0" err="1">
                <a:latin typeface="Calibri" panose="020F0502020204030204" pitchFamily="34" charset="0"/>
                <a:ea typeface="Calibri" panose="020F0502020204030204" pitchFamily="34" charset="0"/>
                <a:cs typeface="Calibri" panose="020F0502020204030204" pitchFamily="34" charset="0"/>
              </a:rPr>
              <a:t>locations.No</a:t>
            </a:r>
            <a:r>
              <a:rPr lang="en-US" sz="1600" b="1" dirty="0">
                <a:latin typeface="Calibri" panose="020F0502020204030204" pitchFamily="34" charset="0"/>
                <a:ea typeface="Calibri" panose="020F0502020204030204" pitchFamily="34" charset="0"/>
                <a:cs typeface="Calibri" panose="020F0502020204030204" pitchFamily="34" charset="0"/>
              </a:rPr>
              <a:t> single location dominates revenue generation.</a:t>
            </a:r>
          </a:p>
        </p:txBody>
      </p:sp>
      <p:sp>
        <p:nvSpPr>
          <p:cNvPr id="15" name="TextBox 14">
            <a:extLst>
              <a:ext uri="{FF2B5EF4-FFF2-40B4-BE49-F238E27FC236}">
                <a16:creationId xmlns:a16="http://schemas.microsoft.com/office/drawing/2014/main" id="{CEDAFD8F-B2E1-8C0D-ADDF-DBB11338BD63}"/>
              </a:ext>
            </a:extLst>
          </p:cNvPr>
          <p:cNvSpPr txBox="1"/>
          <p:nvPr/>
        </p:nvSpPr>
        <p:spPr>
          <a:xfrm>
            <a:off x="73628" y="1946649"/>
            <a:ext cx="3687746"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Top Customers by Revenue</a:t>
            </a:r>
          </a:p>
        </p:txBody>
      </p:sp>
      <p:sp>
        <p:nvSpPr>
          <p:cNvPr id="16" name="TextBox 15">
            <a:extLst>
              <a:ext uri="{FF2B5EF4-FFF2-40B4-BE49-F238E27FC236}">
                <a16:creationId xmlns:a16="http://schemas.microsoft.com/office/drawing/2014/main" id="{497F512D-4760-4BE7-7D0B-4BA0632CCEE9}"/>
              </a:ext>
            </a:extLst>
          </p:cNvPr>
          <p:cNvSpPr txBox="1"/>
          <p:nvPr/>
        </p:nvSpPr>
        <p:spPr>
          <a:xfrm>
            <a:off x="131654" y="1134697"/>
            <a:ext cx="4872570" cy="830997"/>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UPI is the most used payment method with highest revenue . Cash and Uber Wallet show moderate usage . Credit and Debit Cards are least used.</a:t>
            </a:r>
          </a:p>
        </p:txBody>
      </p:sp>
      <p:pic>
        <p:nvPicPr>
          <p:cNvPr id="3" name="Picture 2">
            <a:extLst>
              <a:ext uri="{FF2B5EF4-FFF2-40B4-BE49-F238E27FC236}">
                <a16:creationId xmlns:a16="http://schemas.microsoft.com/office/drawing/2014/main" id="{18AA526A-D387-2CE1-69B2-82BB581597F3}"/>
              </a:ext>
            </a:extLst>
          </p:cNvPr>
          <p:cNvPicPr>
            <a:picLocks noChangeAspect="1"/>
          </p:cNvPicPr>
          <p:nvPr/>
        </p:nvPicPr>
        <p:blipFill>
          <a:blip r:embed="rId2"/>
          <a:stretch>
            <a:fillRect/>
          </a:stretch>
        </p:blipFill>
        <p:spPr>
          <a:xfrm>
            <a:off x="2432234" y="3510116"/>
            <a:ext cx="7232875" cy="2994361"/>
          </a:xfrm>
          <a:prstGeom prst="rect">
            <a:avLst/>
          </a:prstGeom>
        </p:spPr>
      </p:pic>
    </p:spTree>
    <p:extLst>
      <p:ext uri="{BB962C8B-B14F-4D97-AF65-F5344CB8AC3E}">
        <p14:creationId xmlns:p14="http://schemas.microsoft.com/office/powerpoint/2010/main" val="37743381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4888-1BD0-DC37-0F7D-54E4ADCCC13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F577FA9-5BDA-F771-753B-1115DCAD288D}"/>
              </a:ext>
            </a:extLst>
          </p:cNvPr>
          <p:cNvSpPr txBox="1"/>
          <p:nvPr/>
        </p:nvSpPr>
        <p:spPr>
          <a:xfrm>
            <a:off x="3848997" y="-33741"/>
            <a:ext cx="3731674" cy="523220"/>
          </a:xfrm>
          <a:prstGeom prst="rect">
            <a:avLst/>
          </a:prstGeom>
          <a:noFill/>
          <a:ln>
            <a:noFill/>
          </a:ln>
        </p:spPr>
        <p:txBody>
          <a:bodyPr wrap="square" rtlCol="0">
            <a:spAutoFit/>
          </a:bodyPr>
          <a:lstStyle/>
          <a:p>
            <a:r>
              <a:rPr lang="en-US" sz="2800" b="1" dirty="0">
                <a:solidFill>
                  <a:schemeClr val="accent4"/>
                </a:solidFill>
                <a:latin typeface="Amasis MT Pro Black" panose="02040A04050005020304" pitchFamily="18" charset="0"/>
              </a:rPr>
              <a:t>Rider Dashboard </a:t>
            </a:r>
          </a:p>
        </p:txBody>
      </p:sp>
      <p:sp>
        <p:nvSpPr>
          <p:cNvPr id="8" name="TextBox 7">
            <a:extLst>
              <a:ext uri="{FF2B5EF4-FFF2-40B4-BE49-F238E27FC236}">
                <a16:creationId xmlns:a16="http://schemas.microsoft.com/office/drawing/2014/main" id="{302D40CF-2CC6-89CF-7CDE-BD5375F2EF0B}"/>
              </a:ext>
            </a:extLst>
          </p:cNvPr>
          <p:cNvSpPr txBox="1"/>
          <p:nvPr/>
        </p:nvSpPr>
        <p:spPr>
          <a:xfrm>
            <a:off x="4888925" y="489479"/>
            <a:ext cx="825909" cy="523220"/>
          </a:xfrm>
          <a:prstGeom prst="rect">
            <a:avLst/>
          </a:prstGeom>
          <a:noFill/>
          <a:ln>
            <a:noFill/>
          </a:ln>
        </p:spPr>
        <p:txBody>
          <a:bodyPr wrap="square" rtlCol="0">
            <a:spAutoFit/>
          </a:bodyPr>
          <a:lstStyle/>
          <a:p>
            <a:r>
              <a:rPr lang="en-US" sz="2800" b="1" dirty="0">
                <a:solidFill>
                  <a:schemeClr val="accent5">
                    <a:lumMod val="75000"/>
                  </a:schemeClr>
                </a:solidFill>
                <a:latin typeface="Amasis MT Pro Black" panose="02040A04050005020304" pitchFamily="18" charset="0"/>
              </a:rPr>
              <a:t>KPI</a:t>
            </a:r>
          </a:p>
        </p:txBody>
      </p:sp>
      <p:sp>
        <p:nvSpPr>
          <p:cNvPr id="9" name="TextBox 8">
            <a:extLst>
              <a:ext uri="{FF2B5EF4-FFF2-40B4-BE49-F238E27FC236}">
                <a16:creationId xmlns:a16="http://schemas.microsoft.com/office/drawing/2014/main" id="{33E264F4-2767-DE8E-C2D4-63707CF9FFEA}"/>
              </a:ext>
            </a:extLst>
          </p:cNvPr>
          <p:cNvSpPr txBox="1"/>
          <p:nvPr/>
        </p:nvSpPr>
        <p:spPr>
          <a:xfrm>
            <a:off x="0" y="1867641"/>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Total Riders</a:t>
            </a:r>
          </a:p>
        </p:txBody>
      </p:sp>
      <p:sp>
        <p:nvSpPr>
          <p:cNvPr id="10" name="TextBox 9">
            <a:extLst>
              <a:ext uri="{FF2B5EF4-FFF2-40B4-BE49-F238E27FC236}">
                <a16:creationId xmlns:a16="http://schemas.microsoft.com/office/drawing/2014/main" id="{D899443A-82C2-A789-A11D-7EDF44939EC5}"/>
              </a:ext>
            </a:extLst>
          </p:cNvPr>
          <p:cNvSpPr txBox="1"/>
          <p:nvPr/>
        </p:nvSpPr>
        <p:spPr>
          <a:xfrm>
            <a:off x="181895" y="2117705"/>
            <a:ext cx="10663086"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This KPI shows the total number of unique riders using the platform . It helps measure the overall customer base and user growth.</a:t>
            </a:r>
          </a:p>
        </p:txBody>
      </p:sp>
      <p:sp>
        <p:nvSpPr>
          <p:cNvPr id="13" name="TextBox 12">
            <a:extLst>
              <a:ext uri="{FF2B5EF4-FFF2-40B4-BE49-F238E27FC236}">
                <a16:creationId xmlns:a16="http://schemas.microsoft.com/office/drawing/2014/main" id="{7FE434B4-D19A-4DEC-6264-531B04276DBE}"/>
              </a:ext>
            </a:extLst>
          </p:cNvPr>
          <p:cNvSpPr txBox="1"/>
          <p:nvPr/>
        </p:nvSpPr>
        <p:spPr>
          <a:xfrm>
            <a:off x="-1" y="2737101"/>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Total Bookings</a:t>
            </a:r>
          </a:p>
        </p:txBody>
      </p:sp>
      <p:sp>
        <p:nvSpPr>
          <p:cNvPr id="14" name="TextBox 13">
            <a:extLst>
              <a:ext uri="{FF2B5EF4-FFF2-40B4-BE49-F238E27FC236}">
                <a16:creationId xmlns:a16="http://schemas.microsoft.com/office/drawing/2014/main" id="{9C1850AF-B6FA-A088-C8D4-0E99381C8DF5}"/>
              </a:ext>
            </a:extLst>
          </p:cNvPr>
          <p:cNvSpPr txBox="1"/>
          <p:nvPr/>
        </p:nvSpPr>
        <p:spPr>
          <a:xfrm>
            <a:off x="280217" y="2906378"/>
            <a:ext cx="10368117"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Represents the total number of ride bookings made by riders . It indicates overall demand and platform usage.</a:t>
            </a:r>
          </a:p>
        </p:txBody>
      </p:sp>
      <p:sp>
        <p:nvSpPr>
          <p:cNvPr id="15" name="TextBox 14">
            <a:extLst>
              <a:ext uri="{FF2B5EF4-FFF2-40B4-BE49-F238E27FC236}">
                <a16:creationId xmlns:a16="http://schemas.microsoft.com/office/drawing/2014/main" id="{69631FAD-2068-3268-2493-86B1DDFE552D}"/>
              </a:ext>
            </a:extLst>
          </p:cNvPr>
          <p:cNvSpPr txBox="1"/>
          <p:nvPr/>
        </p:nvSpPr>
        <p:spPr>
          <a:xfrm>
            <a:off x="-2" y="3525774"/>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Completed Bookings</a:t>
            </a:r>
          </a:p>
        </p:txBody>
      </p:sp>
      <p:sp>
        <p:nvSpPr>
          <p:cNvPr id="16" name="TextBox 15">
            <a:extLst>
              <a:ext uri="{FF2B5EF4-FFF2-40B4-BE49-F238E27FC236}">
                <a16:creationId xmlns:a16="http://schemas.microsoft.com/office/drawing/2014/main" id="{E5C536A0-AF7E-EABC-A35F-9A2F4494548E}"/>
              </a:ext>
            </a:extLst>
          </p:cNvPr>
          <p:cNvSpPr txBox="1"/>
          <p:nvPr/>
        </p:nvSpPr>
        <p:spPr>
          <a:xfrm>
            <a:off x="280218" y="3695051"/>
            <a:ext cx="10368116"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Shows the number of rides successfully completed . It reflects service efficiency and customer satisfaction.</a:t>
            </a:r>
          </a:p>
        </p:txBody>
      </p:sp>
      <p:sp>
        <p:nvSpPr>
          <p:cNvPr id="17" name="TextBox 16">
            <a:extLst>
              <a:ext uri="{FF2B5EF4-FFF2-40B4-BE49-F238E27FC236}">
                <a16:creationId xmlns:a16="http://schemas.microsoft.com/office/drawing/2014/main" id="{DA6B72E0-0367-F4D9-0489-8A653BAC1532}"/>
              </a:ext>
            </a:extLst>
          </p:cNvPr>
          <p:cNvSpPr txBox="1"/>
          <p:nvPr/>
        </p:nvSpPr>
        <p:spPr>
          <a:xfrm>
            <a:off x="0" y="4318180"/>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Total Distance</a:t>
            </a:r>
          </a:p>
        </p:txBody>
      </p:sp>
      <p:sp>
        <p:nvSpPr>
          <p:cNvPr id="19" name="TextBox 18">
            <a:extLst>
              <a:ext uri="{FF2B5EF4-FFF2-40B4-BE49-F238E27FC236}">
                <a16:creationId xmlns:a16="http://schemas.microsoft.com/office/drawing/2014/main" id="{9484B5E0-2EC8-341C-8763-3B68D11C4438}"/>
              </a:ext>
            </a:extLst>
          </p:cNvPr>
          <p:cNvSpPr txBox="1"/>
          <p:nvPr/>
        </p:nvSpPr>
        <p:spPr>
          <a:xfrm>
            <a:off x="0" y="5026066"/>
            <a:ext cx="2467897" cy="338554"/>
          </a:xfrm>
          <a:prstGeom prst="rect">
            <a:avLst/>
          </a:prstGeom>
          <a:noFill/>
          <a:ln>
            <a:noFill/>
          </a:ln>
        </p:spPr>
        <p:txBody>
          <a:bodyPr wrap="square" rtlCol="0">
            <a:spAutoFit/>
          </a:bodyPr>
          <a:lstStyle/>
          <a:p>
            <a:r>
              <a:rPr lang="en-US" sz="1600" b="1" dirty="0">
                <a:solidFill>
                  <a:schemeClr val="accent1">
                    <a:lumMod val="75000"/>
                  </a:schemeClr>
                </a:solidFill>
                <a:latin typeface="Amasis MT Pro Black" panose="02040A04050005020304" pitchFamily="18" charset="0"/>
              </a:rPr>
              <a:t>Lost Bookings</a:t>
            </a:r>
          </a:p>
        </p:txBody>
      </p:sp>
      <p:sp>
        <p:nvSpPr>
          <p:cNvPr id="20" name="TextBox 19">
            <a:extLst>
              <a:ext uri="{FF2B5EF4-FFF2-40B4-BE49-F238E27FC236}">
                <a16:creationId xmlns:a16="http://schemas.microsoft.com/office/drawing/2014/main" id="{5B7CC4A2-1EA0-724C-A485-63979895D100}"/>
              </a:ext>
            </a:extLst>
          </p:cNvPr>
          <p:cNvSpPr txBox="1"/>
          <p:nvPr/>
        </p:nvSpPr>
        <p:spPr>
          <a:xfrm>
            <a:off x="280217" y="5279863"/>
            <a:ext cx="11793795" cy="400110"/>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Indicates bookings that were cancelled or not completed . This helps identify drop-offs and operational issues.</a:t>
            </a:r>
          </a:p>
        </p:txBody>
      </p:sp>
      <p:sp>
        <p:nvSpPr>
          <p:cNvPr id="2" name="TextBox 1">
            <a:extLst>
              <a:ext uri="{FF2B5EF4-FFF2-40B4-BE49-F238E27FC236}">
                <a16:creationId xmlns:a16="http://schemas.microsoft.com/office/drawing/2014/main" id="{9E99979E-E927-59E3-C329-D5026E615880}"/>
              </a:ext>
            </a:extLst>
          </p:cNvPr>
          <p:cNvSpPr txBox="1"/>
          <p:nvPr/>
        </p:nvSpPr>
        <p:spPr>
          <a:xfrm>
            <a:off x="299717" y="4502846"/>
            <a:ext cx="10830234"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Shows the total distance traveled across all completed rides . It helps understand ride activity and  revenue potential.</a:t>
            </a:r>
          </a:p>
        </p:txBody>
      </p:sp>
      <p:pic>
        <p:nvPicPr>
          <p:cNvPr id="4" name="Picture 3">
            <a:extLst>
              <a:ext uri="{FF2B5EF4-FFF2-40B4-BE49-F238E27FC236}">
                <a16:creationId xmlns:a16="http://schemas.microsoft.com/office/drawing/2014/main" id="{DFC1E837-D9C7-A92C-5BD7-64093F615CD1}"/>
              </a:ext>
            </a:extLst>
          </p:cNvPr>
          <p:cNvPicPr>
            <a:picLocks noChangeAspect="1"/>
          </p:cNvPicPr>
          <p:nvPr/>
        </p:nvPicPr>
        <p:blipFill>
          <a:blip r:embed="rId2"/>
          <a:stretch>
            <a:fillRect/>
          </a:stretch>
        </p:blipFill>
        <p:spPr>
          <a:xfrm>
            <a:off x="1489318" y="939598"/>
            <a:ext cx="8249801" cy="887649"/>
          </a:xfrm>
          <a:prstGeom prst="rect">
            <a:avLst/>
          </a:prstGeom>
        </p:spPr>
      </p:pic>
    </p:spTree>
    <p:extLst>
      <p:ext uri="{BB962C8B-B14F-4D97-AF65-F5344CB8AC3E}">
        <p14:creationId xmlns:p14="http://schemas.microsoft.com/office/powerpoint/2010/main" val="3209287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7735C-3FFD-B3F5-18CD-5D03BAD6F73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EFED10A-393F-CF08-F285-C63C34DDCA1D}"/>
              </a:ext>
            </a:extLst>
          </p:cNvPr>
          <p:cNvSpPr txBox="1"/>
          <p:nvPr/>
        </p:nvSpPr>
        <p:spPr>
          <a:xfrm>
            <a:off x="3848997" y="-33741"/>
            <a:ext cx="4793558" cy="523220"/>
          </a:xfrm>
          <a:prstGeom prst="rect">
            <a:avLst/>
          </a:prstGeom>
          <a:noFill/>
          <a:ln>
            <a:noFill/>
          </a:ln>
        </p:spPr>
        <p:txBody>
          <a:bodyPr wrap="square" rtlCol="0">
            <a:spAutoFit/>
          </a:bodyPr>
          <a:lstStyle/>
          <a:p>
            <a:r>
              <a:rPr lang="en-US" sz="2800" b="1" dirty="0">
                <a:solidFill>
                  <a:schemeClr val="accent4"/>
                </a:solidFill>
                <a:latin typeface="Amasis MT Pro Black" panose="02040A04050005020304" pitchFamily="18" charset="0"/>
              </a:rPr>
              <a:t>Revenue Dashboard </a:t>
            </a:r>
          </a:p>
        </p:txBody>
      </p:sp>
      <p:sp>
        <p:nvSpPr>
          <p:cNvPr id="8" name="TextBox 7">
            <a:extLst>
              <a:ext uri="{FF2B5EF4-FFF2-40B4-BE49-F238E27FC236}">
                <a16:creationId xmlns:a16="http://schemas.microsoft.com/office/drawing/2014/main" id="{7C78CB23-475F-43B4-5E5E-0B957640B6C1}"/>
              </a:ext>
            </a:extLst>
          </p:cNvPr>
          <p:cNvSpPr txBox="1"/>
          <p:nvPr/>
        </p:nvSpPr>
        <p:spPr>
          <a:xfrm>
            <a:off x="5004224" y="353523"/>
            <a:ext cx="1577445" cy="461665"/>
          </a:xfrm>
          <a:prstGeom prst="rect">
            <a:avLst/>
          </a:prstGeom>
          <a:noFill/>
          <a:ln>
            <a:noFill/>
          </a:ln>
        </p:spPr>
        <p:txBody>
          <a:bodyPr wrap="square" rtlCol="0">
            <a:spAutoFit/>
          </a:bodyPr>
          <a:lstStyle/>
          <a:p>
            <a:r>
              <a:rPr lang="en-US" sz="2400" b="1" dirty="0">
                <a:solidFill>
                  <a:schemeClr val="accent5">
                    <a:lumMod val="75000"/>
                  </a:schemeClr>
                </a:solidFill>
                <a:latin typeface="Amasis MT Pro Black" panose="02040A04050005020304" pitchFamily="18" charset="0"/>
              </a:rPr>
              <a:t>Charts</a:t>
            </a:r>
          </a:p>
        </p:txBody>
      </p:sp>
      <p:sp>
        <p:nvSpPr>
          <p:cNvPr id="11" name="TextBox 10">
            <a:extLst>
              <a:ext uri="{FF2B5EF4-FFF2-40B4-BE49-F238E27FC236}">
                <a16:creationId xmlns:a16="http://schemas.microsoft.com/office/drawing/2014/main" id="{BB90839A-4FEF-F03B-9DE0-42FEB7C73227}"/>
              </a:ext>
            </a:extLst>
          </p:cNvPr>
          <p:cNvSpPr txBox="1"/>
          <p:nvPr/>
        </p:nvSpPr>
        <p:spPr>
          <a:xfrm>
            <a:off x="0" y="815188"/>
            <a:ext cx="4513006" cy="338554"/>
          </a:xfrm>
          <a:prstGeom prst="rect">
            <a:avLst/>
          </a:prstGeom>
          <a:noFill/>
          <a:ln>
            <a:noFill/>
          </a:ln>
        </p:spPr>
        <p:txBody>
          <a:bodyPr wrap="square" rtlCol="0">
            <a:spAutoFit/>
          </a:bodyPr>
          <a:lstStyle/>
          <a:p>
            <a:r>
              <a:rPr lang="en-US" sz="1600" b="1" dirty="0">
                <a:solidFill>
                  <a:schemeClr val="accent5">
                    <a:lumMod val="60000"/>
                    <a:lumOff val="40000"/>
                  </a:schemeClr>
                </a:solidFill>
                <a:latin typeface="Amasis MT Pro Black" panose="02040A04050005020304" pitchFamily="18" charset="0"/>
              </a:rPr>
              <a:t>Booking Trend by Month and Quarter</a:t>
            </a:r>
          </a:p>
        </p:txBody>
      </p:sp>
      <p:sp>
        <p:nvSpPr>
          <p:cNvPr id="12" name="TextBox 11">
            <a:extLst>
              <a:ext uri="{FF2B5EF4-FFF2-40B4-BE49-F238E27FC236}">
                <a16:creationId xmlns:a16="http://schemas.microsoft.com/office/drawing/2014/main" id="{D7EF6B1F-C57F-57F0-2C6B-0FFB9E3C905E}"/>
              </a:ext>
            </a:extLst>
          </p:cNvPr>
          <p:cNvSpPr txBox="1"/>
          <p:nvPr/>
        </p:nvSpPr>
        <p:spPr>
          <a:xfrm>
            <a:off x="78112" y="2601018"/>
            <a:ext cx="4872570" cy="1323439"/>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Vehicle Type categorizes rides based on service options such as Auto, Bike, Sedan, and XL. It helps understand customer preferences across vehicle categories. This parameter supports fleet planning and demand optimization. It also highlights popular ride types.</a:t>
            </a:r>
          </a:p>
        </p:txBody>
      </p:sp>
      <p:sp>
        <p:nvSpPr>
          <p:cNvPr id="13" name="TextBox 12">
            <a:extLst>
              <a:ext uri="{FF2B5EF4-FFF2-40B4-BE49-F238E27FC236}">
                <a16:creationId xmlns:a16="http://schemas.microsoft.com/office/drawing/2014/main" id="{153AAF4A-13D2-3C0D-8AF2-1A5DCD0E7D02}"/>
              </a:ext>
            </a:extLst>
          </p:cNvPr>
          <p:cNvSpPr txBox="1"/>
          <p:nvPr/>
        </p:nvSpPr>
        <p:spPr>
          <a:xfrm>
            <a:off x="6096000" y="815188"/>
            <a:ext cx="4793558" cy="338554"/>
          </a:xfrm>
          <a:prstGeom prst="rect">
            <a:avLst/>
          </a:prstGeom>
          <a:noFill/>
          <a:ln>
            <a:noFill/>
          </a:ln>
        </p:spPr>
        <p:txBody>
          <a:bodyPr wrap="square" rtlCol="0">
            <a:spAutoFit/>
          </a:bodyPr>
          <a:lstStyle/>
          <a:p>
            <a:r>
              <a:rPr lang="en-US" sz="1600" b="1" dirty="0">
                <a:solidFill>
                  <a:schemeClr val="accent5">
                    <a:lumMod val="60000"/>
                    <a:lumOff val="40000"/>
                  </a:schemeClr>
                </a:solidFill>
                <a:latin typeface="Amasis MT Pro Black" panose="02040A04050005020304" pitchFamily="18" charset="0"/>
              </a:rPr>
              <a:t>Rider Payment Method Distribution</a:t>
            </a:r>
          </a:p>
        </p:txBody>
      </p:sp>
      <p:sp>
        <p:nvSpPr>
          <p:cNvPr id="14" name="TextBox 13">
            <a:extLst>
              <a:ext uri="{FF2B5EF4-FFF2-40B4-BE49-F238E27FC236}">
                <a16:creationId xmlns:a16="http://schemas.microsoft.com/office/drawing/2014/main" id="{C8390519-3354-FDD7-3946-6F4A032A224E}"/>
              </a:ext>
            </a:extLst>
          </p:cNvPr>
          <p:cNvSpPr txBox="1"/>
          <p:nvPr/>
        </p:nvSpPr>
        <p:spPr>
          <a:xfrm>
            <a:off x="6206270" y="1115651"/>
            <a:ext cx="4872570" cy="1323439"/>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Payment Method identifies how riders pay for their trips. Options include UPI, Cash, Wallet, Credit Card, and Debit Card. It helps analyze payment behavior and digital adoption. This insight is useful for financial strategy planning.</a:t>
            </a:r>
          </a:p>
        </p:txBody>
      </p:sp>
      <p:sp>
        <p:nvSpPr>
          <p:cNvPr id="15" name="TextBox 14">
            <a:extLst>
              <a:ext uri="{FF2B5EF4-FFF2-40B4-BE49-F238E27FC236}">
                <a16:creationId xmlns:a16="http://schemas.microsoft.com/office/drawing/2014/main" id="{88199DCD-B4A2-A544-632A-F14D21280243}"/>
              </a:ext>
            </a:extLst>
          </p:cNvPr>
          <p:cNvSpPr txBox="1"/>
          <p:nvPr/>
        </p:nvSpPr>
        <p:spPr>
          <a:xfrm>
            <a:off x="0" y="2350851"/>
            <a:ext cx="4232788" cy="338554"/>
          </a:xfrm>
          <a:prstGeom prst="rect">
            <a:avLst/>
          </a:prstGeom>
          <a:noFill/>
          <a:ln>
            <a:noFill/>
          </a:ln>
        </p:spPr>
        <p:txBody>
          <a:bodyPr wrap="square" rtlCol="0">
            <a:spAutoFit/>
          </a:bodyPr>
          <a:lstStyle/>
          <a:p>
            <a:r>
              <a:rPr lang="en-US" sz="1600" b="1" dirty="0">
                <a:solidFill>
                  <a:schemeClr val="accent5">
                    <a:lumMod val="60000"/>
                    <a:lumOff val="40000"/>
                  </a:schemeClr>
                </a:solidFill>
                <a:latin typeface="Amasis MT Pro Black" panose="02040A04050005020304" pitchFamily="18" charset="0"/>
              </a:rPr>
              <a:t>Customer Preference by Vehicle Type</a:t>
            </a:r>
          </a:p>
        </p:txBody>
      </p:sp>
      <p:sp>
        <p:nvSpPr>
          <p:cNvPr id="16" name="TextBox 15">
            <a:extLst>
              <a:ext uri="{FF2B5EF4-FFF2-40B4-BE49-F238E27FC236}">
                <a16:creationId xmlns:a16="http://schemas.microsoft.com/office/drawing/2014/main" id="{0ADC1208-5D16-B4A2-953E-B0486F9D244B}"/>
              </a:ext>
            </a:extLst>
          </p:cNvPr>
          <p:cNvSpPr txBox="1"/>
          <p:nvPr/>
        </p:nvSpPr>
        <p:spPr>
          <a:xfrm>
            <a:off x="78112" y="1114474"/>
            <a:ext cx="4872570" cy="1323439"/>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This parameter allows analysis of booking trends over different time intervals. Users can switch between monthly and quarterly views. It helps identify seasonal demand patterns. This flexibility improves trend analysis.</a:t>
            </a:r>
          </a:p>
        </p:txBody>
      </p:sp>
      <p:sp>
        <p:nvSpPr>
          <p:cNvPr id="17" name="TextBox 16">
            <a:extLst>
              <a:ext uri="{FF2B5EF4-FFF2-40B4-BE49-F238E27FC236}">
                <a16:creationId xmlns:a16="http://schemas.microsoft.com/office/drawing/2014/main" id="{2EF96091-35F7-CEEC-275A-EE6FAC1224BC}"/>
              </a:ext>
            </a:extLst>
          </p:cNvPr>
          <p:cNvSpPr txBox="1"/>
          <p:nvPr/>
        </p:nvSpPr>
        <p:spPr>
          <a:xfrm>
            <a:off x="6206269" y="2463803"/>
            <a:ext cx="5336801" cy="338554"/>
          </a:xfrm>
          <a:prstGeom prst="rect">
            <a:avLst/>
          </a:prstGeom>
          <a:noFill/>
          <a:ln>
            <a:noFill/>
          </a:ln>
        </p:spPr>
        <p:txBody>
          <a:bodyPr wrap="square" rtlCol="0">
            <a:spAutoFit/>
          </a:bodyPr>
          <a:lstStyle/>
          <a:p>
            <a:r>
              <a:rPr lang="en-US" sz="1600" b="1" dirty="0">
                <a:solidFill>
                  <a:schemeClr val="accent5">
                    <a:lumMod val="60000"/>
                    <a:lumOff val="40000"/>
                  </a:schemeClr>
                </a:solidFill>
                <a:latin typeface="Amasis MT Pro Black" panose="02040A04050005020304" pitchFamily="18" charset="0"/>
              </a:rPr>
              <a:t>Incomplete and Driver , customer cancel Reason</a:t>
            </a:r>
          </a:p>
        </p:txBody>
      </p:sp>
      <p:sp>
        <p:nvSpPr>
          <p:cNvPr id="2" name="TextBox 1">
            <a:extLst>
              <a:ext uri="{FF2B5EF4-FFF2-40B4-BE49-F238E27FC236}">
                <a16:creationId xmlns:a16="http://schemas.microsoft.com/office/drawing/2014/main" id="{B45AB51D-C996-4C68-297D-19529EB7E762}"/>
              </a:ext>
            </a:extLst>
          </p:cNvPr>
          <p:cNvSpPr txBox="1"/>
          <p:nvPr/>
        </p:nvSpPr>
        <p:spPr>
          <a:xfrm>
            <a:off x="6319341" y="2685728"/>
            <a:ext cx="4872570" cy="1323439"/>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Driver cancellations usually occur because of vehicle or personal issues, while customer cancellations happen due to confusion, plan changes, or policy violations. Understanding these reasons helps improve operational efficiency and reduce booking failures.</a:t>
            </a:r>
          </a:p>
        </p:txBody>
      </p:sp>
      <p:pic>
        <p:nvPicPr>
          <p:cNvPr id="4" name="Picture 3">
            <a:extLst>
              <a:ext uri="{FF2B5EF4-FFF2-40B4-BE49-F238E27FC236}">
                <a16:creationId xmlns:a16="http://schemas.microsoft.com/office/drawing/2014/main" id="{572301C3-C47F-53D6-9555-3DFE82BD97F3}"/>
              </a:ext>
            </a:extLst>
          </p:cNvPr>
          <p:cNvPicPr>
            <a:picLocks noChangeAspect="1"/>
          </p:cNvPicPr>
          <p:nvPr/>
        </p:nvPicPr>
        <p:blipFill>
          <a:blip r:embed="rId2"/>
          <a:stretch>
            <a:fillRect/>
          </a:stretch>
        </p:blipFill>
        <p:spPr>
          <a:xfrm>
            <a:off x="78112" y="4193971"/>
            <a:ext cx="6017888" cy="2408129"/>
          </a:xfrm>
          <a:prstGeom prst="rect">
            <a:avLst/>
          </a:prstGeom>
        </p:spPr>
      </p:pic>
      <p:pic>
        <p:nvPicPr>
          <p:cNvPr id="6" name="Picture 5">
            <a:extLst>
              <a:ext uri="{FF2B5EF4-FFF2-40B4-BE49-F238E27FC236}">
                <a16:creationId xmlns:a16="http://schemas.microsoft.com/office/drawing/2014/main" id="{517A61E9-CFA0-0B4C-ACB0-5563FE706E28}"/>
              </a:ext>
            </a:extLst>
          </p:cNvPr>
          <p:cNvPicPr>
            <a:picLocks noChangeAspect="1"/>
          </p:cNvPicPr>
          <p:nvPr/>
        </p:nvPicPr>
        <p:blipFill>
          <a:blip r:embed="rId3"/>
          <a:stretch>
            <a:fillRect/>
          </a:stretch>
        </p:blipFill>
        <p:spPr>
          <a:xfrm>
            <a:off x="6245777" y="4193971"/>
            <a:ext cx="5868112" cy="2408129"/>
          </a:xfrm>
          <a:prstGeom prst="rect">
            <a:avLst/>
          </a:prstGeom>
        </p:spPr>
      </p:pic>
    </p:spTree>
    <p:extLst>
      <p:ext uri="{BB962C8B-B14F-4D97-AF65-F5344CB8AC3E}">
        <p14:creationId xmlns:p14="http://schemas.microsoft.com/office/powerpoint/2010/main" val="242057424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4C8362-3418-E5F2-3E5F-A0381F473A8A}"/>
              </a:ext>
            </a:extLst>
          </p:cNvPr>
          <p:cNvSpPr txBox="1"/>
          <p:nvPr/>
        </p:nvSpPr>
        <p:spPr>
          <a:xfrm>
            <a:off x="4428777" y="0"/>
            <a:ext cx="2925752" cy="646331"/>
          </a:xfrm>
          <a:prstGeom prst="rect">
            <a:avLst/>
          </a:prstGeom>
          <a:noFill/>
          <a:ln>
            <a:noFill/>
          </a:ln>
        </p:spPr>
        <p:txBody>
          <a:bodyPr wrap="square" rtlCol="0">
            <a:spAutoFit/>
          </a:bodyPr>
          <a:lstStyle/>
          <a:p>
            <a:r>
              <a:rPr lang="en-US" sz="3600" b="1" dirty="0">
                <a:solidFill>
                  <a:schemeClr val="accent5">
                    <a:lumMod val="75000"/>
                  </a:schemeClr>
                </a:solidFill>
                <a:latin typeface="Amasis MT Pro Black" panose="02040A04050005020304" pitchFamily="18" charset="0"/>
              </a:rPr>
              <a:t>Conclusion</a:t>
            </a:r>
          </a:p>
        </p:txBody>
      </p:sp>
      <p:sp>
        <p:nvSpPr>
          <p:cNvPr id="4" name="Rectangle 3">
            <a:extLst>
              <a:ext uri="{FF2B5EF4-FFF2-40B4-BE49-F238E27FC236}">
                <a16:creationId xmlns:a16="http://schemas.microsoft.com/office/drawing/2014/main" id="{3C6CF078-F176-8400-31B5-E946BEB4A7E3}"/>
              </a:ext>
            </a:extLst>
          </p:cNvPr>
          <p:cNvSpPr/>
          <p:nvPr/>
        </p:nvSpPr>
        <p:spPr>
          <a:xfrm>
            <a:off x="570266" y="975859"/>
            <a:ext cx="10328790" cy="9221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Arial" panose="020B0604020202020204" pitchFamily="34" charset="0"/>
              <a:buChar char="•"/>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The analysis shows that completed bookings are significantly higher than lost bookings, indicating strong operational efficiency, though cancellations still need attention.</a:t>
            </a:r>
          </a:p>
        </p:txBody>
      </p:sp>
      <p:sp>
        <p:nvSpPr>
          <p:cNvPr id="6" name="Rectangle 5">
            <a:extLst>
              <a:ext uri="{FF2B5EF4-FFF2-40B4-BE49-F238E27FC236}">
                <a16:creationId xmlns:a16="http://schemas.microsoft.com/office/drawing/2014/main" id="{AE2EA6ED-3C95-B005-38C1-FDB972CC33EA}"/>
              </a:ext>
            </a:extLst>
          </p:cNvPr>
          <p:cNvSpPr/>
          <p:nvPr/>
        </p:nvSpPr>
        <p:spPr>
          <a:xfrm>
            <a:off x="712837" y="2685556"/>
            <a:ext cx="8711380" cy="7680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Arial" panose="020B0604020202020204" pitchFamily="34" charset="0"/>
              <a:buChar char="•"/>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UPI is the most preferred payment method, highlighting strong adoption of digital payments, while card-based payments are used less frequently.</a:t>
            </a:r>
          </a:p>
        </p:txBody>
      </p:sp>
      <p:sp>
        <p:nvSpPr>
          <p:cNvPr id="8" name="Rectangle 7">
            <a:extLst>
              <a:ext uri="{FF2B5EF4-FFF2-40B4-BE49-F238E27FC236}">
                <a16:creationId xmlns:a16="http://schemas.microsoft.com/office/drawing/2014/main" id="{7FCCE4D6-E5E8-B6C2-9AF0-94EAAECD50B1}"/>
              </a:ext>
            </a:extLst>
          </p:cNvPr>
          <p:cNvSpPr/>
          <p:nvPr/>
        </p:nvSpPr>
        <p:spPr>
          <a:xfrm>
            <a:off x="467030" y="3543601"/>
            <a:ext cx="10191138" cy="7680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Arial" panose="020B0604020202020204" pitchFamily="34" charset="0"/>
              <a:buChar char="•"/>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Most incomplete bookings are caused by customer-related and unspecified reasons, suggesting the need for better communication and clearer booking guidelines.</a:t>
            </a:r>
          </a:p>
        </p:txBody>
      </p:sp>
      <p:sp>
        <p:nvSpPr>
          <p:cNvPr id="9" name="Rectangle 8">
            <a:extLst>
              <a:ext uri="{FF2B5EF4-FFF2-40B4-BE49-F238E27FC236}">
                <a16:creationId xmlns:a16="http://schemas.microsoft.com/office/drawing/2014/main" id="{8798DE49-3DE5-4E8A-BAFB-60BEC7BED25A}"/>
              </a:ext>
            </a:extLst>
          </p:cNvPr>
          <p:cNvSpPr/>
          <p:nvPr/>
        </p:nvSpPr>
        <p:spPr>
          <a:xfrm>
            <a:off x="712837" y="4435922"/>
            <a:ext cx="9497962" cy="7680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Arial" panose="020B0604020202020204" pitchFamily="34" charset="0"/>
              <a:buChar char="•"/>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Revenue and booking trends vary by time period and vehicle type, which can help the business optimize pricing, fleet allocation, and promotional strategies.</a:t>
            </a:r>
          </a:p>
        </p:txBody>
      </p:sp>
      <p:sp>
        <p:nvSpPr>
          <p:cNvPr id="11" name="Rectangle 10">
            <a:extLst>
              <a:ext uri="{FF2B5EF4-FFF2-40B4-BE49-F238E27FC236}">
                <a16:creationId xmlns:a16="http://schemas.microsoft.com/office/drawing/2014/main" id="{51B60669-5F10-0D5C-9FF8-2F14E0A8064A}"/>
              </a:ext>
            </a:extLst>
          </p:cNvPr>
          <p:cNvSpPr/>
          <p:nvPr/>
        </p:nvSpPr>
        <p:spPr>
          <a:xfrm>
            <a:off x="840656" y="1729122"/>
            <a:ext cx="10328790" cy="9221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Arial" panose="020B0604020202020204" pitchFamily="34" charset="0"/>
              <a:buChar char="•"/>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Auto, Bike, and Go Mini generate the highest number of bookings and revenue, proving that customers prefer affordable and short-distance ride options.</a:t>
            </a:r>
          </a:p>
        </p:txBody>
      </p:sp>
    </p:spTree>
    <p:extLst>
      <p:ext uri="{BB962C8B-B14F-4D97-AF65-F5344CB8AC3E}">
        <p14:creationId xmlns:p14="http://schemas.microsoft.com/office/powerpoint/2010/main" val="108792154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84BAC0-A0B9-6FA0-2C9D-CC048C4472FC}"/>
              </a:ext>
            </a:extLst>
          </p:cNvPr>
          <p:cNvSpPr/>
          <p:nvPr/>
        </p:nvSpPr>
        <p:spPr>
          <a:xfrm>
            <a:off x="4296697" y="82409"/>
            <a:ext cx="3097162" cy="6998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957DA77-AAC5-C653-76BA-298EB13E7FB4}"/>
              </a:ext>
            </a:extLst>
          </p:cNvPr>
          <p:cNvSpPr txBox="1"/>
          <p:nvPr/>
        </p:nvSpPr>
        <p:spPr>
          <a:xfrm>
            <a:off x="4817806" y="6257835"/>
            <a:ext cx="3097162" cy="1200329"/>
          </a:xfrm>
          <a:prstGeom prst="rect">
            <a:avLst/>
          </a:prstGeom>
          <a:noFill/>
          <a:ln>
            <a:noFill/>
          </a:ln>
        </p:spPr>
        <p:txBody>
          <a:bodyPr wrap="square" rtlCol="0">
            <a:spAutoFit/>
          </a:bodyPr>
          <a:lstStyle/>
          <a:p>
            <a:r>
              <a:rPr lang="en-US" sz="3600" b="1" dirty="0">
                <a:latin typeface="Amasis MT Pro Black" panose="02040A04050005020304" pitchFamily="18" charset="0"/>
              </a:rPr>
              <a:t>Thank you</a:t>
            </a:r>
          </a:p>
          <a:p>
            <a:endParaRPr lang="en-US" sz="3600" b="1" dirty="0">
              <a:latin typeface="Amasis MT Pro Black" panose="02040A04050005020304" pitchFamily="18" charset="0"/>
            </a:endParaRPr>
          </a:p>
        </p:txBody>
      </p:sp>
      <p:sp>
        <p:nvSpPr>
          <p:cNvPr id="5" name="TextBox 4">
            <a:extLst>
              <a:ext uri="{FF2B5EF4-FFF2-40B4-BE49-F238E27FC236}">
                <a16:creationId xmlns:a16="http://schemas.microsoft.com/office/drawing/2014/main" id="{0D52F16C-F87E-2EB8-5B24-F603208C0C90}"/>
              </a:ext>
            </a:extLst>
          </p:cNvPr>
          <p:cNvSpPr txBox="1"/>
          <p:nvPr/>
        </p:nvSpPr>
        <p:spPr>
          <a:xfrm>
            <a:off x="4428777" y="0"/>
            <a:ext cx="2925752" cy="646331"/>
          </a:xfrm>
          <a:prstGeom prst="rect">
            <a:avLst/>
          </a:prstGeom>
          <a:noFill/>
          <a:ln>
            <a:noFill/>
          </a:ln>
        </p:spPr>
        <p:txBody>
          <a:bodyPr wrap="square" rtlCol="0">
            <a:spAutoFit/>
          </a:bodyPr>
          <a:lstStyle/>
          <a:p>
            <a:r>
              <a:rPr lang="en-US" sz="3600" b="1" dirty="0">
                <a:solidFill>
                  <a:schemeClr val="accent5">
                    <a:lumMod val="75000"/>
                  </a:schemeClr>
                </a:solidFill>
                <a:latin typeface="Amasis MT Pro Black" panose="02040A04050005020304" pitchFamily="18" charset="0"/>
              </a:rPr>
              <a:t>Dashboard </a:t>
            </a:r>
          </a:p>
        </p:txBody>
      </p:sp>
      <p:pic>
        <p:nvPicPr>
          <p:cNvPr id="9" name="Picture 8">
            <a:extLst>
              <a:ext uri="{FF2B5EF4-FFF2-40B4-BE49-F238E27FC236}">
                <a16:creationId xmlns:a16="http://schemas.microsoft.com/office/drawing/2014/main" id="{B2BE999C-A8DC-525D-D0F6-75AAECE0520C}"/>
              </a:ext>
            </a:extLst>
          </p:cNvPr>
          <p:cNvPicPr>
            <a:picLocks noChangeAspect="1"/>
          </p:cNvPicPr>
          <p:nvPr/>
        </p:nvPicPr>
        <p:blipFill>
          <a:blip r:embed="rId2"/>
          <a:stretch>
            <a:fillRect/>
          </a:stretch>
        </p:blipFill>
        <p:spPr>
          <a:xfrm>
            <a:off x="108824" y="3614691"/>
            <a:ext cx="5275815" cy="2507226"/>
          </a:xfrm>
          <a:prstGeom prst="rect">
            <a:avLst/>
          </a:prstGeom>
        </p:spPr>
      </p:pic>
      <p:pic>
        <p:nvPicPr>
          <p:cNvPr id="11" name="Picture 10">
            <a:extLst>
              <a:ext uri="{FF2B5EF4-FFF2-40B4-BE49-F238E27FC236}">
                <a16:creationId xmlns:a16="http://schemas.microsoft.com/office/drawing/2014/main" id="{99D26BE0-FE22-B82E-D658-93474A136F42}"/>
              </a:ext>
            </a:extLst>
          </p:cNvPr>
          <p:cNvPicPr>
            <a:picLocks noChangeAspect="1"/>
          </p:cNvPicPr>
          <p:nvPr/>
        </p:nvPicPr>
        <p:blipFill>
          <a:blip r:embed="rId3"/>
          <a:stretch>
            <a:fillRect/>
          </a:stretch>
        </p:blipFill>
        <p:spPr>
          <a:xfrm>
            <a:off x="6807364" y="619078"/>
            <a:ext cx="5157828" cy="2624231"/>
          </a:xfrm>
          <a:prstGeom prst="rect">
            <a:avLst/>
          </a:prstGeom>
        </p:spPr>
      </p:pic>
      <p:pic>
        <p:nvPicPr>
          <p:cNvPr id="13" name="Picture 12">
            <a:extLst>
              <a:ext uri="{FF2B5EF4-FFF2-40B4-BE49-F238E27FC236}">
                <a16:creationId xmlns:a16="http://schemas.microsoft.com/office/drawing/2014/main" id="{44CDC5A3-FEDC-D6B7-982B-C7AA6C1247FB}"/>
              </a:ext>
            </a:extLst>
          </p:cNvPr>
          <p:cNvPicPr>
            <a:picLocks noChangeAspect="1"/>
          </p:cNvPicPr>
          <p:nvPr/>
        </p:nvPicPr>
        <p:blipFill>
          <a:blip r:embed="rId4"/>
          <a:stretch>
            <a:fillRect/>
          </a:stretch>
        </p:blipFill>
        <p:spPr>
          <a:xfrm>
            <a:off x="6807363" y="3497685"/>
            <a:ext cx="5157828" cy="2624231"/>
          </a:xfrm>
          <a:prstGeom prst="rect">
            <a:avLst/>
          </a:prstGeom>
        </p:spPr>
      </p:pic>
      <p:pic>
        <p:nvPicPr>
          <p:cNvPr id="16" name="Picture 15">
            <a:extLst>
              <a:ext uri="{FF2B5EF4-FFF2-40B4-BE49-F238E27FC236}">
                <a16:creationId xmlns:a16="http://schemas.microsoft.com/office/drawing/2014/main" id="{9A088088-6EE7-3A10-2359-ACA6B8B7C0B1}"/>
              </a:ext>
            </a:extLst>
          </p:cNvPr>
          <p:cNvPicPr>
            <a:picLocks noChangeAspect="1"/>
          </p:cNvPicPr>
          <p:nvPr/>
        </p:nvPicPr>
        <p:blipFill>
          <a:blip r:embed="rId5"/>
          <a:stretch>
            <a:fillRect/>
          </a:stretch>
        </p:blipFill>
        <p:spPr>
          <a:xfrm>
            <a:off x="108822" y="646040"/>
            <a:ext cx="5275815" cy="2597269"/>
          </a:xfrm>
          <a:prstGeom prst="rect">
            <a:avLst/>
          </a:prstGeom>
        </p:spPr>
      </p:pic>
    </p:spTree>
    <p:extLst>
      <p:ext uri="{BB962C8B-B14F-4D97-AF65-F5344CB8AC3E}">
        <p14:creationId xmlns:p14="http://schemas.microsoft.com/office/powerpoint/2010/main" val="9679190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712</TotalTime>
  <Words>1252</Words>
  <Application>Microsoft Office PowerPoint</Application>
  <PresentationFormat>Widescreen</PresentationFormat>
  <Paragraphs>125</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Amasis MT Pro Black</vt:lpstr>
      <vt:lpstr>Arial</vt:lpstr>
      <vt:lpstr>Arial Rounded MT Bold</vt:lpstr>
      <vt:lpstr>Calibri</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ANKITA KHETO</dc:creator>
  <cp:lastModifiedBy>ANKITA KHETO</cp:lastModifiedBy>
  <cp:revision>19</cp:revision>
  <dcterms:created xsi:type="dcterms:W3CDTF">2025-10-10T05:57:23Z</dcterms:created>
  <dcterms:modified xsi:type="dcterms:W3CDTF">2026-02-08T12:46:25Z</dcterms:modified>
</cp:coreProperties>
</file>